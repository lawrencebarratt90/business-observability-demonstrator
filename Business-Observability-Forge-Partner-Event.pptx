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457200"/>
            <a:ext cx="1371600" cy="1371600"/>
          </a:xfrm>
          <a:prstGeom prst="ellipse">
            <a:avLst/>
          </a:prstGeom>
          <a:solidFill>
            <a:srgbClr val="73BE28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900000">
            <a:off x="8869680" y="1280160"/>
            <a:ext cx="1234440" cy="1234440"/>
          </a:xfrm>
          <a:prstGeom prst="ellipse">
            <a:avLst/>
          </a:prstGeom>
          <a:solidFill>
            <a:srgbClr val="73BE28">
              <a:lumMod val="4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800000">
            <a:off x="9509760" y="2103120"/>
            <a:ext cx="1097280" cy="1097280"/>
          </a:xfrm>
          <a:prstGeom prst="ellipse">
            <a:avLst/>
          </a:prstGeom>
          <a:solidFill>
            <a:srgbClr val="73BE28">
              <a:lumMod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2700000">
            <a:off x="10149840" y="2926080"/>
            <a:ext cx="960120" cy="960120"/>
          </a:xfrm>
          <a:prstGeom prst="ellipse">
            <a:avLst/>
          </a:prstGeom>
          <a:solidFill>
            <a:srgbClr val="73BE28">
              <a:lumMod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3600000">
            <a:off x="10789920" y="3749039"/>
            <a:ext cx="822960" cy="822960"/>
          </a:xfrm>
          <a:prstGeom prst="ellipse">
            <a:avLst/>
          </a:prstGeom>
          <a:solidFill>
            <a:srgbClr val="73BE28">
              <a:lumMod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4500000">
            <a:off x="11430000" y="4572000"/>
            <a:ext cx="685800" cy="685800"/>
          </a:xfrm>
          <a:prstGeom prst="ellipse">
            <a:avLst/>
          </a:prstGeom>
          <a:solidFill>
            <a:srgbClr val="73BE28">
              <a:lumMod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73BE28"/>
                </a:solidFill>
                <a:latin typeface="Segoe UI Semibold"/>
              </a:defRPr>
            </a:pPr>
            <a:r>
              <a:t>BUSINESS OBSERVABILITY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640"/>
              </a:lnSpc>
              <a:spcAft>
                <a:spcPts val="0"/>
              </a:spcAft>
              <a:defRPr sz="7200" b="1">
                <a:solidFill>
                  <a:srgbClr val="FFFFFF"/>
                </a:solidFill>
                <a:latin typeface="Segoe UI Black"/>
              </a:defRPr>
            </a:pPr>
            <a:r>
              <a:t>FORGE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1828800" cy="54864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E0E0E0"/>
                </a:solidFill>
                <a:latin typeface="Segoe UI Light"/>
              </a:defRPr>
            </a:pPr>
            <a:r>
              <a:t>AI-Powered Customer Journey Simulation</a:t>
            </a:r>
            <a:br/>
            <a:r>
              <a:t>for Dynatrace Partners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46320"/>
            <a:ext cx="11247120" cy="13716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73BE28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0E0E0"/>
                </a:solidFill>
                <a:latin typeface="Segoe UI"/>
              </a:defRPr>
            </a:pPr>
            <a:r>
              <a:t>Industry</a:t>
            </a:r>
            <a:br/>
            <a:r>
              <a:t>Verticals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983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1496FF"/>
                </a:solidFill>
                <a:latin typeface="Segoe UI"/>
              </a:defRPr>
            </a:pPr>
            <a:r>
              <a:t>256+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577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0E0E0"/>
                </a:solidFill>
                <a:latin typeface="Segoe UI"/>
              </a:defRPr>
            </a:pPr>
            <a:r>
              <a:t>Journey</a:t>
            </a:r>
            <a:br/>
            <a:r>
              <a:t>Templates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983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6F2DA8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5577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0E0E0"/>
                </a:solidFill>
                <a:latin typeface="Segoe UI"/>
              </a:defRPr>
            </a:pPr>
            <a:r>
              <a:t>AI</a:t>
            </a:r>
            <a:br/>
            <a:r>
              <a:t>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9" y="4983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0B4D8"/>
                </a:solidFill>
                <a:latin typeface="Segoe UI"/>
              </a:defRPr>
            </a:pPr>
            <a:r>
              <a:t>&lt; 15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9" y="5577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0E0E0"/>
                </a:solidFill>
                <a:latin typeface="Segoe UI"/>
              </a:defRPr>
            </a:pPr>
            <a:r>
              <a:t>Setup</a:t>
            </a:r>
            <a:br/>
            <a:r>
              <a:t>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983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6B35"/>
                </a:solidFill>
                <a:latin typeface="Segoe UI"/>
              </a:defRPr>
            </a:pPr>
            <a:r>
              <a:t>v2.22.5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5577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0E0E0"/>
                </a:solidFill>
                <a:latin typeface="Segoe UI"/>
              </a:defRPr>
            </a:pPr>
            <a:r>
              <a:t>Current</a:t>
            </a:r>
            <a:br/>
            <a:r>
              <a:t>Version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9E9E9E"/>
                </a:solidFill>
                <a:latin typeface="Segoe UI Light"/>
              </a:defRPr>
            </a:pPr>
            <a:r>
              <a:t>Partner Event  |  April 2026  |  Dynatrace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Partner 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474720" cy="475488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34747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65960" y="169164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Every Customer</a:t>
            </a:r>
            <a:br/>
            <a:r>
              <a:t>is Different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E0E0E0"/>
                </a:solidFill>
                <a:latin typeface="Segoe UI"/>
              </a:defRPr>
            </a:pPr>
            <a:r>
              <a:t>A bank cares about fraud rates.</a:t>
            </a:r>
            <a:br/>
            <a:r>
              <a:t>A hospital cares about triage accuracy.</a:t>
            </a:r>
            <a:br/>
            <a:r>
              <a:t>A retailer cares about cart abandonment.</a:t>
            </a:r>
            <a:br/>
            <a:br/>
            <a:r>
              <a:t>You can't build a demo for every vertical.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74720" cy="475488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3474720" cy="54864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15000" y="1691640"/>
            <a:ext cx="640080" cy="640080"/>
          </a:xfrm>
          <a:prstGeom prst="ellipse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</a:defRPr>
            </a:pPr>
            <a:r>
              <a:t>~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603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Demo Setup</a:t>
            </a:r>
            <a:br/>
            <a:r>
              <a:t>Takes 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56616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E0E0E0"/>
                </a:solidFill>
                <a:latin typeface="Segoe UI"/>
              </a:defRPr>
            </a:pPr>
            <a:r>
              <a:t>Real services, real data, real dashboards.</a:t>
            </a:r>
            <a:br/>
            <a:r>
              <a:t>Most partners resort to PowerPoint</a:t>
            </a:r>
            <a:br/>
            <a:r>
              <a:t>and say "imagine this..."</a:t>
            </a:r>
            <a:br/>
            <a:br/>
            <a:r>
              <a:t>That doesn't close deals.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371600"/>
            <a:ext cx="3474720" cy="475488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9" y="1371600"/>
            <a:ext cx="3474720" cy="54864"/>
          </a:xfrm>
          <a:prstGeom prst="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64039" y="1691640"/>
            <a:ext cx="640080" cy="640080"/>
          </a:xfrm>
          <a:prstGeom prst="ellipse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</a:defRPr>
            </a:pPr>
            <a:r>
              <a:t>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9" y="25603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C-Suite Doesn't</a:t>
            </a:r>
            <a:br/>
            <a:r>
              <a:t>Speak MELT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9" y="356616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E0E0E0"/>
                </a:solidFill>
                <a:latin typeface="Segoe UI"/>
              </a:defRPr>
            </a:pPr>
            <a:r>
              <a:t>They speak revenue, risk, cost,</a:t>
            </a:r>
            <a:br/>
            <a:r>
              <a:t>and customer experience.</a:t>
            </a:r>
            <a:br/>
            <a:br/>
            <a:r>
              <a:t>We need to translate</a:t>
            </a:r>
            <a:br/>
            <a:r>
              <a:t>observability into their 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What Is the Business Observability Forge?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E0E0E0"/>
                </a:solidFill>
                <a:latin typeface="Segoe UI Light"/>
              </a:defRPr>
            </a:pPr>
            <a:r>
              <a:t>An AI-powered customer journey simulation engine that generates real, instrumented microservices within Dynatrace — in minutes, not weeks.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029200" cy="41148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5029200" cy="54864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194560"/>
            <a:ext cx="457200" cy="45720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48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73BE28"/>
                </a:solidFill>
                <a:latin typeface="Segoe UI"/>
              </a:defRPr>
            </a:pPr>
            <a:r>
              <a:t>THE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514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9E9E9E"/>
                </a:solidFill>
                <a:latin typeface="Segoe UI"/>
              </a:defRPr>
            </a:pPr>
            <a:r>
              <a:t>Node.js Server  |  Your VM / EC2 / Laptop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71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0E0E0"/>
                </a:solidFill>
                <a:latin typeface="Segoe UI"/>
              </a:defRPr>
            </a:pPr>
            <a:r>
              <a:t>  Dynamic child service spawning (ports 8081-8200)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035808"/>
            <a:ext cx="109728" cy="109728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3192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0E0E0"/>
                </a:solidFill>
                <a:latin typeface="Segoe UI"/>
              </a:defRPr>
            </a:pPr>
            <a:r>
              <a:t>  Real HTTP microservices with trace propagation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3383279"/>
            <a:ext cx="109728" cy="109728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6667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0E0E0"/>
                </a:solidFill>
                <a:latin typeface="Segoe UI"/>
              </a:defRPr>
            </a:pPr>
            <a:r>
              <a:t>  OneAgent auto-detection &amp; Smartscape topology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3730752"/>
            <a:ext cx="109728" cy="109728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0142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0E0E0"/>
                </a:solidFill>
                <a:latin typeface="Segoe UI"/>
              </a:defRPr>
            </a:pPr>
            <a:r>
              <a:t>  Business event emission at every journey step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4078224"/>
            <a:ext cx="109728" cy="109728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3616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0E0E0"/>
                </a:solidFill>
                <a:latin typeface="Segoe UI"/>
              </a:defRPr>
            </a:pPr>
            <a:r>
              <a:t>  AI agent framework (Nemesis, Fix-It, Librarian)</a:t>
            </a:r>
          </a:p>
        </p:txBody>
      </p:sp>
      <p:sp>
        <p:nvSpPr>
          <p:cNvPr id="21" name="Oval 20"/>
          <p:cNvSpPr/>
          <p:nvPr/>
        </p:nvSpPr>
        <p:spPr>
          <a:xfrm>
            <a:off x="960120" y="4425696"/>
            <a:ext cx="109728" cy="109728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709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0E0E0"/>
                </a:solidFill>
                <a:latin typeface="Segoe UI"/>
              </a:defRPr>
            </a:pPr>
            <a:r>
              <a:t>  Feature flag management per service</a:t>
            </a:r>
          </a:p>
        </p:txBody>
      </p:sp>
      <p:sp>
        <p:nvSpPr>
          <p:cNvPr id="23" name="Oval 22"/>
          <p:cNvSpPr/>
          <p:nvPr/>
        </p:nvSpPr>
        <p:spPr>
          <a:xfrm>
            <a:off x="960120" y="4773168"/>
            <a:ext cx="109728" cy="109728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0566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0E0E0"/>
                </a:solidFill>
                <a:latin typeface="Segoe UI"/>
              </a:defRPr>
            </a:pPr>
            <a:r>
              <a:t>  Auto-load traffic generation (30-60 journeys/min)</a:t>
            </a:r>
          </a:p>
        </p:txBody>
      </p:sp>
      <p:sp>
        <p:nvSpPr>
          <p:cNvPr id="25" name="Oval 24"/>
          <p:cNvSpPr/>
          <p:nvPr/>
        </p:nvSpPr>
        <p:spPr>
          <a:xfrm>
            <a:off x="960120" y="5120640"/>
            <a:ext cx="109728" cy="109728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40410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0E0E0"/>
                </a:solidFill>
                <a:latin typeface="Segoe UI"/>
              </a:defRPr>
            </a:pPr>
            <a:r>
              <a:t>  256+ pre-built journey templates</a:t>
            </a:r>
          </a:p>
        </p:txBody>
      </p:sp>
      <p:sp>
        <p:nvSpPr>
          <p:cNvPr id="27" name="Oval 26"/>
          <p:cNvSpPr/>
          <p:nvPr/>
        </p:nvSpPr>
        <p:spPr>
          <a:xfrm>
            <a:off x="960120" y="5468112"/>
            <a:ext cx="109728" cy="109728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5852160" y="3474720"/>
            <a:ext cx="731520" cy="548640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23560" y="4114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00B4D8"/>
                </a:solidFill>
                <a:latin typeface="Segoe UI"/>
              </a:defRPr>
            </a:pPr>
            <a:r>
              <a:t>EdgeConnect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1920240"/>
            <a:ext cx="5029200" cy="41148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75120" y="1920240"/>
            <a:ext cx="5029200" cy="54864"/>
          </a:xfrm>
          <a:prstGeom prst="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49440" y="2194560"/>
            <a:ext cx="457200" cy="457200"/>
          </a:xfrm>
          <a:prstGeom prst="ellipse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2148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6F2DA8"/>
                </a:solidFill>
                <a:latin typeface="Segoe UI"/>
              </a:defRPr>
            </a:pPr>
            <a:r>
              <a:t>THE FORGE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2514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9E9E9E"/>
                </a:solidFill>
                <a:latin typeface="Segoe UI"/>
              </a:defRPr>
            </a:pPr>
            <a:r>
              <a:t>Dynatrace AppEngine  |  Native In-Tenant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2971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B4D8"/>
                </a:solidFill>
                <a:latin typeface="Segoe UI"/>
              </a:defRPr>
            </a:pPr>
            <a:r>
              <a:t>Home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2971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Journey builder &amp; launcher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33192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B4D8"/>
                </a:solidFill>
                <a:latin typeface="Segoe UI"/>
              </a:defRPr>
            </a:pPr>
            <a:r>
              <a:t>Solutions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33192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Industry vertical templates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6667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B4D8"/>
                </a:solidFill>
                <a:latin typeface="Segoe UI"/>
              </a:defRPr>
            </a:pPr>
            <a:r>
              <a:t>Dashboards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36667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AI-generated Dynatrace dashboards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40142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B4D8"/>
                </a:solidFill>
                <a:latin typeface="Segoe UI"/>
              </a:defRPr>
            </a:pPr>
            <a:r>
              <a:t>Services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40142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Live service monitoring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43616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B4D8"/>
                </a:solidFill>
                <a:latin typeface="Segoe UI"/>
              </a:defRPr>
            </a:pPr>
            <a:r>
              <a:t>Chaos Control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43616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Nemesis agent interface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4709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B4D8"/>
                </a:solidFill>
                <a:latin typeface="Segoe UI"/>
              </a:defRPr>
            </a:pPr>
            <a:r>
              <a:t>Fix-It 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AI remediation control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5056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B4D8"/>
                </a:solidFill>
                <a:latin typeface="Segoe UI"/>
              </a:defRPr>
            </a:pPr>
            <a:r>
              <a:t>Demo Guide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5056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Interactive walkthrough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54041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B4D8"/>
                </a:solidFill>
                <a:latin typeface="Segoe UI"/>
              </a:defRPr>
            </a:pPr>
            <a:r>
              <a:t>Settings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54041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Credentials &amp; configuration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How It Works: From Zero to Business Observability</a:t>
            </a:r>
          </a:p>
        </p:txBody>
      </p:sp>
      <p:sp>
        <p:nvSpPr>
          <p:cNvPr id="6" name="Oval 5"/>
          <p:cNvSpPr/>
          <p:nvPr/>
        </p:nvSpPr>
        <p:spPr>
          <a:xfrm>
            <a:off x="1051560" y="1463040"/>
            <a:ext cx="548640" cy="54864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1691640"/>
            <a:ext cx="1325880" cy="54864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Pick Industry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Select from 55</a:t>
            </a:r>
            <a:br/>
            <a:r>
              <a:t>verticals</a:t>
            </a:r>
          </a:p>
        </p:txBody>
      </p:sp>
      <p:sp>
        <p:nvSpPr>
          <p:cNvPr id="10" name="Oval 9"/>
          <p:cNvSpPr/>
          <p:nvPr/>
        </p:nvSpPr>
        <p:spPr>
          <a:xfrm>
            <a:off x="2971800" y="1463040"/>
            <a:ext cx="548640" cy="548640"/>
          </a:xfrm>
          <a:prstGeom prst="ellipse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691640"/>
            <a:ext cx="1325880" cy="54864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Choose 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743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Pre-built templates</a:t>
            </a:r>
            <a:br/>
            <a:r>
              <a:t>for every domain</a:t>
            </a:r>
          </a:p>
        </p:txBody>
      </p:sp>
      <p:sp>
        <p:nvSpPr>
          <p:cNvPr id="14" name="Oval 13"/>
          <p:cNvSpPr/>
          <p:nvPr/>
        </p:nvSpPr>
        <p:spPr>
          <a:xfrm>
            <a:off x="4892040" y="146304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1691640"/>
            <a:ext cx="1325880" cy="54864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Services Spawn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743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6-8 real microservices</a:t>
            </a:r>
            <a:br/>
            <a:r>
              <a:t>auto-created</a:t>
            </a:r>
          </a:p>
        </p:txBody>
      </p:sp>
      <p:sp>
        <p:nvSpPr>
          <p:cNvPr id="18" name="Oval 17"/>
          <p:cNvSpPr/>
          <p:nvPr/>
        </p:nvSpPr>
        <p:spPr>
          <a:xfrm>
            <a:off x="6812280" y="1463040"/>
            <a:ext cx="548640" cy="548640"/>
          </a:xfrm>
          <a:prstGeom prst="ellipse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1691640"/>
            <a:ext cx="1325880" cy="54864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Traces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743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Distributed traces</a:t>
            </a:r>
            <a:br/>
            <a:r>
              <a:t>across all services</a:t>
            </a:r>
          </a:p>
        </p:txBody>
      </p:sp>
      <p:sp>
        <p:nvSpPr>
          <p:cNvPr id="22" name="Oval 21"/>
          <p:cNvSpPr/>
          <p:nvPr/>
        </p:nvSpPr>
        <p:spPr>
          <a:xfrm>
            <a:off x="8732520" y="1463040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72600" y="1691640"/>
            <a:ext cx="1325880" cy="54864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BizEvents Emit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743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Revenue &amp; KPI data</a:t>
            </a:r>
            <a:br/>
            <a:r>
              <a:t>at every step</a:t>
            </a:r>
          </a:p>
        </p:txBody>
      </p:sp>
      <p:sp>
        <p:nvSpPr>
          <p:cNvPr id="26" name="Oval 25"/>
          <p:cNvSpPr/>
          <p:nvPr/>
        </p:nvSpPr>
        <p:spPr>
          <a:xfrm>
            <a:off x="10652760" y="1463040"/>
            <a:ext cx="548640" cy="54864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Dashboards</a:t>
            </a:r>
            <a:br/>
            <a:r>
              <a:t>Generate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7432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AI builds DQL</a:t>
            </a:r>
            <a:br/>
            <a:r>
              <a:t>dashboard tiles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657600"/>
            <a:ext cx="11247120" cy="27432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657600"/>
            <a:ext cx="11247120" cy="45720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73BE28"/>
                </a:solidFill>
                <a:latin typeface="Segoe UI"/>
              </a:defRPr>
            </a:pPr>
            <a:r>
              <a:t>LIVE DEMO: Retail Banking — Loan Application</a:t>
            </a:r>
          </a:p>
        </p:txBody>
      </p:sp>
      <p:sp>
        <p:nvSpPr>
          <p:cNvPr id="32" name="Chevron 31"/>
          <p:cNvSpPr/>
          <p:nvPr/>
        </p:nvSpPr>
        <p:spPr>
          <a:xfrm>
            <a:off x="822960" y="4434840"/>
            <a:ext cx="1679448" cy="822960"/>
          </a:xfrm>
          <a:prstGeom prst="chevron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Application</a:t>
            </a:r>
            <a:br/>
            <a:r>
              <a:t>Submission</a:t>
            </a:r>
          </a:p>
        </p:txBody>
      </p:sp>
      <p:sp>
        <p:nvSpPr>
          <p:cNvPr id="33" name="Chevron 32"/>
          <p:cNvSpPr/>
          <p:nvPr/>
        </p:nvSpPr>
        <p:spPr>
          <a:xfrm>
            <a:off x="2575560" y="4434840"/>
            <a:ext cx="1679448" cy="822960"/>
          </a:xfrm>
          <a:prstGeom prst="chevron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Credit</a:t>
            </a:r>
            <a:br/>
            <a:r>
              <a:t>Check</a:t>
            </a:r>
          </a:p>
        </p:txBody>
      </p:sp>
      <p:sp>
        <p:nvSpPr>
          <p:cNvPr id="34" name="Chevron 33"/>
          <p:cNvSpPr/>
          <p:nvPr/>
        </p:nvSpPr>
        <p:spPr>
          <a:xfrm>
            <a:off x="4328160" y="4434840"/>
            <a:ext cx="1679448" cy="822960"/>
          </a:xfrm>
          <a:prstGeom prst="chevron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Document</a:t>
            </a:r>
            <a:br/>
            <a:r>
              <a:t>Verification</a:t>
            </a:r>
          </a:p>
        </p:txBody>
      </p:sp>
      <p:sp>
        <p:nvSpPr>
          <p:cNvPr id="35" name="Chevron 34"/>
          <p:cNvSpPr/>
          <p:nvPr/>
        </p:nvSpPr>
        <p:spPr>
          <a:xfrm>
            <a:off x="6080760" y="4434840"/>
            <a:ext cx="1679448" cy="822960"/>
          </a:xfrm>
          <a:prstGeom prst="chevron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Underwriting</a:t>
            </a:r>
            <a:br/>
            <a:r>
              <a:t>Decision</a:t>
            </a:r>
          </a:p>
        </p:txBody>
      </p:sp>
      <p:sp>
        <p:nvSpPr>
          <p:cNvPr id="36" name="Chevron 35"/>
          <p:cNvSpPr/>
          <p:nvPr/>
        </p:nvSpPr>
        <p:spPr>
          <a:xfrm>
            <a:off x="7833360" y="4434840"/>
            <a:ext cx="1679448" cy="822960"/>
          </a:xfrm>
          <a:prstGeom prst="chevron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Loan</a:t>
            </a:r>
            <a:br/>
            <a:r>
              <a:t>Approval</a:t>
            </a:r>
          </a:p>
        </p:txBody>
      </p:sp>
      <p:sp>
        <p:nvSpPr>
          <p:cNvPr id="37" name="Chevron 36"/>
          <p:cNvSpPr/>
          <p:nvPr/>
        </p:nvSpPr>
        <p:spPr>
          <a:xfrm>
            <a:off x="9585960" y="4434840"/>
            <a:ext cx="1679448" cy="822960"/>
          </a:xfrm>
          <a:prstGeom prst="chevron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Funds</a:t>
            </a:r>
            <a:br/>
            <a:r>
              <a:t>Disbursement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394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0E0E0"/>
                </a:solidFill>
                <a:latin typeface="Segoe UI"/>
              </a:defRPr>
            </a:pPr>
            <a:r>
              <a:t>     6 independent Node.js services spawn automatically — each on its own port</a:t>
            </a:r>
          </a:p>
        </p:txBody>
      </p:sp>
      <p:sp>
        <p:nvSpPr>
          <p:cNvPr id="39" name="Oval 38"/>
          <p:cNvSpPr/>
          <p:nvPr/>
        </p:nvSpPr>
        <p:spPr>
          <a:xfrm>
            <a:off x="960120" y="5449824"/>
            <a:ext cx="91440" cy="9144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56692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0E0E0"/>
                </a:solidFill>
                <a:latin typeface="Segoe UI"/>
              </a:defRPr>
            </a:pPr>
            <a:r>
              <a:t>     OneAgent detects every service — full Smartscape topology created from real HTTP traffic</a:t>
            </a:r>
          </a:p>
        </p:txBody>
      </p:sp>
      <p:sp>
        <p:nvSpPr>
          <p:cNvPr id="41" name="Oval 40"/>
          <p:cNvSpPr/>
          <p:nvPr/>
        </p:nvSpPr>
        <p:spPr>
          <a:xfrm>
            <a:off x="960120" y="5724144"/>
            <a:ext cx="91440" cy="9144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8720" y="59436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0E0E0"/>
                </a:solidFill>
                <a:latin typeface="Segoe UI"/>
              </a:defRPr>
            </a:pPr>
            <a:r>
              <a:t>     Each step emits business events: loan value, risk score, customer segment, conversion rate</a:t>
            </a:r>
          </a:p>
        </p:txBody>
      </p:sp>
      <p:sp>
        <p:nvSpPr>
          <p:cNvPr id="43" name="Oval 42"/>
          <p:cNvSpPr/>
          <p:nvPr/>
        </p:nvSpPr>
        <p:spPr>
          <a:xfrm>
            <a:off x="960120" y="5998464"/>
            <a:ext cx="91440" cy="9144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88720" y="62179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0E0E0"/>
                </a:solidFill>
                <a:latin typeface="Segoe UI"/>
              </a:defRPr>
            </a:pPr>
            <a:r>
              <a:t>     AI generates a revenue dashboard from the journey data — no DQL writing required</a:t>
            </a:r>
          </a:p>
        </p:txBody>
      </p:sp>
      <p:sp>
        <p:nvSpPr>
          <p:cNvPr id="45" name="Oval 44"/>
          <p:cNvSpPr/>
          <p:nvPr/>
        </p:nvSpPr>
        <p:spPr>
          <a:xfrm>
            <a:off x="960120" y="6272783"/>
            <a:ext cx="91440" cy="9144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Business Events: The Revenue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E0E0E0"/>
                </a:solidFill>
                <a:latin typeface="Segoe UI Light"/>
              </a:defRPr>
            </a:pPr>
            <a:r>
              <a:t>Every journey step emits structured business events — translating MELT into the language the C-suite speaks.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5029200" cy="4572000"/>
          </a:xfrm>
          <a:prstGeom prst="roundRect">
            <a:avLst/>
          </a:prstGeom>
          <a:solidFill>
            <a:srgbClr val="12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50292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00B4D8"/>
                </a:solidFill>
                <a:latin typeface="Segoe UI"/>
              </a:defRPr>
            </a:pPr>
            <a:r>
              <a:t>Sample Business 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9E9E9E"/>
                </a:solidFill>
                <a:latin typeface="Consolas"/>
              </a:defRPr>
            </a:pPr>
            <a:r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42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Consolas"/>
              </a:defRPr>
            </a:pPr>
            <a:r>
              <a:t>  "event.type":        "BIZ_EVENT"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437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Consolas"/>
              </a:defRPr>
            </a:pPr>
            <a:r>
              <a:t>  "companyName":       "First National Bank"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455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Consolas"/>
              </a:defRPr>
            </a:pPr>
            <a:r>
              <a:t>  "journeyType":       "Loan Application"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472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Consolas"/>
              </a:defRPr>
            </a:pPr>
            <a:r>
              <a:t>  "stepName":          "CreditCheck"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49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3BE28"/>
                </a:solidFill>
                <a:latin typeface="Consolas"/>
              </a:defRPr>
            </a:pPr>
            <a:r>
              <a:t>  "orderTotal":         45,000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5079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73BE28"/>
                </a:solidFill>
                <a:latin typeface="Consolas"/>
              </a:defRPr>
            </a:pPr>
            <a:r>
              <a:t>  "customerLifetimeValue": 128,000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525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F6B35"/>
                </a:solidFill>
                <a:latin typeface="Consolas"/>
              </a:defRPr>
            </a:pPr>
            <a:r>
              <a:t>  "conversionRate":     78%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542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FC107"/>
                </a:solidFill>
                <a:latin typeface="Consolas"/>
              </a:defRPr>
            </a:pPr>
            <a:r>
              <a:t>  "riskScore":          0.23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560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00B4D8"/>
                </a:solidFill>
                <a:latin typeface="Consolas"/>
              </a:defRPr>
            </a:pPr>
            <a:r>
              <a:t>  "approvalTime":       4.2s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57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Consolas"/>
              </a:defRPr>
            </a:pPr>
            <a:r>
              <a:t>  "channel":           "mobile_app"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595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6F2DA8"/>
                </a:solidFill>
                <a:latin typeface="Consolas"/>
              </a:defRPr>
            </a:pPr>
            <a:r>
              <a:t>  "customerSegment":   "Prime"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613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9E9E9E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1737360"/>
            <a:ext cx="5760720" cy="45720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60720" y="1737360"/>
            <a:ext cx="5760720" cy="45720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18745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73BE28"/>
                </a:solidFill>
                <a:latin typeface="Segoe UI"/>
              </a:defRPr>
            </a:pPr>
            <a:r>
              <a:t>What This Unlocks</a:t>
            </a:r>
          </a:p>
        </p:txBody>
      </p:sp>
      <p:sp>
        <p:nvSpPr>
          <p:cNvPr id="26" name="Oval 25"/>
          <p:cNvSpPr/>
          <p:nvPr/>
        </p:nvSpPr>
        <p:spPr>
          <a:xfrm>
            <a:off x="6035040" y="2286000"/>
            <a:ext cx="320040" cy="32004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24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Revenue Impact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560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 Light"/>
              </a:defRPr>
            </a:pPr>
            <a:r>
              <a:t>"Checkout latency caused £2.3K revenue loss this hour"</a:t>
            </a:r>
          </a:p>
        </p:txBody>
      </p:sp>
      <p:sp>
        <p:nvSpPr>
          <p:cNvPr id="29" name="Oval 28"/>
          <p:cNvSpPr/>
          <p:nvPr/>
        </p:nvSpPr>
        <p:spPr>
          <a:xfrm>
            <a:off x="6035040" y="3108960"/>
            <a:ext cx="320040" cy="3200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Customer Churn Correlation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383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 Light"/>
              </a:defRPr>
            </a:pPr>
            <a:r>
              <a:t>"23 failed logins x £240 LTV = £5.5K churn risk"</a:t>
            </a:r>
          </a:p>
        </p:txBody>
      </p:sp>
      <p:sp>
        <p:nvSpPr>
          <p:cNvPr id="32" name="Oval 31"/>
          <p:cNvSpPr/>
          <p:nvPr/>
        </p:nvSpPr>
        <p:spPr>
          <a:xfrm>
            <a:off x="6035040" y="3931920"/>
            <a:ext cx="320040" cy="3200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AI Model Accuracy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206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 Light"/>
              </a:defRPr>
            </a:pPr>
            <a:r>
              <a:t>"Credit scoring 94.2% accurate — 5.8% false decline rate"</a:t>
            </a:r>
          </a:p>
        </p:txBody>
      </p:sp>
      <p:sp>
        <p:nvSpPr>
          <p:cNvPr id="35" name="Oval 34"/>
          <p:cNvSpPr/>
          <p:nvPr/>
        </p:nvSpPr>
        <p:spPr>
          <a:xfrm>
            <a:off x="6035040" y="4754880"/>
            <a:ext cx="320040" cy="320040"/>
          </a:xfrm>
          <a:prstGeom prst="ellipse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709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Conversion Funnel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029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 Light"/>
              </a:defRPr>
            </a:pPr>
            <a:r>
              <a:t>"78% submission-to-approval, 12% drop at document verification"</a:t>
            </a:r>
          </a:p>
        </p:txBody>
      </p:sp>
      <p:sp>
        <p:nvSpPr>
          <p:cNvPr id="38" name="Oval 37"/>
          <p:cNvSpPr/>
          <p:nvPr/>
        </p:nvSpPr>
        <p:spPr>
          <a:xfrm>
            <a:off x="6035040" y="5577840"/>
            <a:ext cx="320040" cy="320040"/>
          </a:xfrm>
          <a:prstGeom prst="ellipse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5532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SLA-to-Revenue Mapping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852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 Light"/>
              </a:defRPr>
            </a:pPr>
            <a:r>
              <a:t>"P99 latency breach on payment = £18K/hr in failed settlements"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55 Industry Verticals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E0E0E0"/>
                </a:solidFill>
                <a:latin typeface="Segoe UI Light"/>
              </a:defRPr>
            </a:pPr>
            <a:r>
              <a:t>Pre-built journey templates, BizEvent schemas, and ROI language for every industry.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2743200" cy="1709928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4864" cy="1709928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73BE28"/>
                </a:solidFill>
                <a:latin typeface="Segoe UI"/>
              </a:defRPr>
            </a:pPr>
            <a:r>
              <a:t>Financial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572768"/>
            <a:ext cx="365760" cy="201168"/>
          </a:xfrm>
          <a:prstGeom prst="round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0136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Retail Banking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025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Wealth Mgmt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0370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Payments &amp; Fintech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0487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Insurance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060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Accounting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80720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Lottery &amp; Betting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355848"/>
            <a:ext cx="2743200" cy="1106424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355848"/>
            <a:ext cx="54864" cy="110642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4015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C107"/>
                </a:solidFill>
                <a:latin typeface="Segoe UI"/>
              </a:defRPr>
            </a:pPr>
            <a:r>
              <a:t>Utilities &amp; Energy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97480" y="3419856"/>
            <a:ext cx="365760" cy="201168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4845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Energy &amp; Utilities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84962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Water &amp; Waste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05079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Recycling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99432"/>
            <a:ext cx="2743200" cy="1911095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599432"/>
            <a:ext cx="54864" cy="1911095"/>
          </a:xfrm>
          <a:prstGeom prst="rect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6451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1496FF"/>
                </a:solidFill>
                <a:latin typeface="Segoe UI"/>
              </a:defRPr>
            </a:pPr>
            <a:r>
              <a:t>Media &amp; Digital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4663440"/>
            <a:ext cx="365760" cy="201168"/>
          </a:xfrm>
          <a:prstGeom prst="roundRect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920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Media &amp; Entertainment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09320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Publishing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29437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Music &amp; Audio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49554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Advertising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69671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Social Media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Marketplaces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9904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Real Estate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7560" y="1508760"/>
            <a:ext cx="2743200" cy="1106424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37560" y="1508760"/>
            <a:ext cx="54864" cy="1106424"/>
          </a:xfrm>
          <a:prstGeom prst="rect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0" y="1554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1496FF"/>
                </a:solidFill>
                <a:latin typeface="Segoe UI"/>
              </a:defRPr>
            </a:pPr>
            <a:r>
              <a:t>Healthcare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77840" y="1572768"/>
            <a:ext cx="365760" cy="201168"/>
          </a:xfrm>
          <a:prstGeom prst="roundRect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40" y="180136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Healthcare &amp; Life Sci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20025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Pharmaceuticals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220370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Veterinary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37560" y="2752344"/>
            <a:ext cx="2743200" cy="1911095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37560" y="2752344"/>
            <a:ext cx="54864" cy="1911095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0" y="27980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6B35"/>
                </a:solidFill>
                <a:latin typeface="Segoe UI"/>
              </a:defRPr>
            </a:pPr>
            <a:r>
              <a:t>Industrial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577840" y="2816352"/>
            <a:ext cx="365760" cy="20116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20440" y="304495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Manufacturing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40" y="32461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Construction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0440" y="344728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Mining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0440" y="364845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Chemical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0440" y="384962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Semiconductors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20440" y="405079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Defence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20440" y="425196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Agriculture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37560" y="4800599"/>
            <a:ext cx="2743200" cy="905256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337560" y="4800599"/>
            <a:ext cx="54864" cy="905256"/>
          </a:xfrm>
          <a:prstGeom prst="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0" y="48463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6F2DA8"/>
                </a:solidFill>
                <a:latin typeface="Segoe UI"/>
              </a:defRPr>
            </a:pPr>
            <a:r>
              <a:t>Human Services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577840" y="4864607"/>
            <a:ext cx="365760" cy="201168"/>
          </a:xfrm>
          <a:prstGeom prst="round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20440" y="5093207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HR &amp; Workforce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20440" y="5294375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Nonprofit &amp; Health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1508760"/>
            <a:ext cx="2743200" cy="2112264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17920" y="1508760"/>
            <a:ext cx="54864" cy="2112264"/>
          </a:xfrm>
          <a:prstGeom prst="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80" y="1554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6F2DA8"/>
                </a:solidFill>
                <a:latin typeface="Segoe UI"/>
              </a:defRPr>
            </a:pPr>
            <a:r>
              <a:t>Retail &amp; Consumer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458200" y="1572768"/>
            <a:ext cx="365760" cy="201168"/>
          </a:xfrm>
          <a:prstGeom prst="round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180136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E-commerce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20025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Fashion &amp; Luxury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220370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Food &amp; Beverage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240487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Beauty &amp; Cosmetics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26060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Fitness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280720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Food Delivery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0" y="300837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Hospitality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320954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Gaming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17920" y="3758184"/>
            <a:ext cx="2743200" cy="1307592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17920" y="3758184"/>
            <a:ext cx="54864" cy="1307592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55080" y="38039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73BE28"/>
                </a:solidFill>
                <a:latin typeface="Segoe UI"/>
              </a:defRPr>
            </a:pPr>
            <a:r>
              <a:t>Education &amp; Prof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458200" y="3822192"/>
            <a:ext cx="365760" cy="201168"/>
          </a:xfrm>
          <a:prstGeom prst="round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0" y="405079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Education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425196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Government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0" y="445312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Consulting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0" y="465429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Legal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217920" y="5202936"/>
            <a:ext cx="2743200" cy="905256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217920" y="5202936"/>
            <a:ext cx="54864" cy="90525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5080" y="52486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B4D8"/>
                </a:solidFill>
                <a:latin typeface="Segoe UI"/>
              </a:defRPr>
            </a:pPr>
            <a:r>
              <a:t>Emerging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458200" y="5266944"/>
            <a:ext cx="365760" cy="20116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0" y="549554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Environmental &amp; ESG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0" y="569671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BizObs Platform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098280" y="1508760"/>
            <a:ext cx="2743200" cy="1911095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098280" y="1508760"/>
            <a:ext cx="54864" cy="191109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35440" y="1554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B4D8"/>
                </a:solidFill>
                <a:latin typeface="Segoe UI"/>
              </a:defRPr>
            </a:pPr>
            <a:r>
              <a:t>Travel &amp; Transport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1338560" y="1572768"/>
            <a:ext cx="365760" cy="201168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281160" y="180136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Airlines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81160" y="20025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Automotive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281160" y="220370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Railway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81160" y="240487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Ride-hailing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281160" y="26060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Shipping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281160" y="280720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EV Charging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281160" y="300837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Logistics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098280" y="3557015"/>
            <a:ext cx="2743200" cy="1709928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98280" y="3557015"/>
            <a:ext cx="54864" cy="1709928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235440" y="360273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E83E3E"/>
                </a:solidFill>
                <a:latin typeface="Segoe UI"/>
              </a:defRPr>
            </a:pPr>
            <a:r>
              <a:t>Technology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1338560" y="3621023"/>
            <a:ext cx="365760" cy="201168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281160" y="3849623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Data Centres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81160" y="4050791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Cybersecurity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281160" y="4251959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Telecoms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281160" y="4453127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Smart Cities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281160" y="4654295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Robotics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281160" y="4855463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E0E0E0"/>
                </a:solidFill>
                <a:latin typeface="Segoe UI"/>
              </a:defRPr>
            </a:pPr>
            <a:r>
              <a:t>  Space &amp; Satellite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Top Verticals for Partner Conversations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486400" cy="9144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864" cy="914400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73BE28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25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Retail Banking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 Light"/>
              </a:defRPr>
            </a:pPr>
            <a:r>
              <a:t>"AI fraud detection false positive rate — money left on the table"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486400" cy="9144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4864" cy="914400"/>
          </a:xfrm>
          <a:prstGeom prst="rect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258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496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25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Healthcare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 Light"/>
              </a:defRPr>
            </a:pPr>
            <a:r>
              <a:t>"AI triage accuracy — prove clinical decision support works"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86000"/>
            <a:ext cx="5486400" cy="9144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54864" cy="914400"/>
          </a:xfrm>
          <a:prstGeom prst="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377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6F2DA8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E-commerce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 Light"/>
              </a:defRPr>
            </a:pPr>
            <a:r>
              <a:t>"Every 100ms latency = 1% conversion loss — measure it"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286000"/>
            <a:ext cx="5486400" cy="9144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286000"/>
            <a:ext cx="54864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377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B4D8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Insurance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 Light"/>
              </a:defRPr>
            </a:pPr>
            <a:r>
              <a:t>"Straight-through processing rate = profitability driver"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337560"/>
            <a:ext cx="5486400" cy="9144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337560"/>
            <a:ext cx="54864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29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6B35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Telecoms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 Light"/>
              </a:defRPr>
            </a:pPr>
            <a:r>
              <a:t>"5G slice performance directly impacts enterprise SLA revenue"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337560"/>
            <a:ext cx="5486400" cy="9144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337560"/>
            <a:ext cx="54864" cy="9144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429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C10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Automotive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 Light"/>
              </a:defRPr>
            </a:pPr>
            <a:r>
              <a:t>"OTA update success rate by vehicle model and region"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389120"/>
            <a:ext cx="5486400" cy="9144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389120"/>
            <a:ext cx="54864" cy="91440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4805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E83E3E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Airlines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 Light"/>
              </a:defRPr>
            </a:pPr>
            <a:r>
              <a:t>"Check-in abandonment at doc verification = lost ancillary revenue"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389120"/>
            <a:ext cx="5486400" cy="9144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4389120"/>
            <a:ext cx="54864" cy="914400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4805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73BE28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Energy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 Light"/>
              </a:defRPr>
            </a:pPr>
            <a:r>
              <a:t>"Predictive maintenance catching failures before outages"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440679"/>
            <a:ext cx="5486400" cy="9144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5440679"/>
            <a:ext cx="54864" cy="914400"/>
          </a:xfrm>
          <a:prstGeom prst="rect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53211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1496FF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55321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Pharma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" y="58978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 Light"/>
              </a:defRPr>
            </a:pPr>
            <a:r>
              <a:t>"AI patient matching reduced Phase III enrollment 40%"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5440679"/>
            <a:ext cx="5486400" cy="9144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17920" y="5440679"/>
            <a:ext cx="54864" cy="914400"/>
          </a:xfrm>
          <a:prstGeom prst="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53211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6F2DA8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55321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Government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58978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 Light"/>
              </a:defRPr>
            </a:pPr>
            <a:r>
              <a:t>"Citizen portal uptime during benefit enrollment periods"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Chaos Engineering &amp; AI Remediation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E0E0E0"/>
                </a:solidFill>
                <a:latin typeface="Segoe UI Light"/>
              </a:defRPr>
            </a:pPr>
            <a:r>
              <a:t>Observability isn't just watching things work — it's understanding what happens when they don't.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5486400" cy="45720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5486400" cy="54864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E83E3E"/>
                </a:solidFill>
                <a:latin typeface="Segoe UI"/>
              </a:defRPr>
            </a:pPr>
            <a:r>
              <a:t>NEMESIS AGENT — Chaos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5120640" cy="475488"/>
          </a:xfrm>
          <a:prstGeom prst="roundRect">
            <a:avLst/>
          </a:prstGeom>
          <a:solidFill>
            <a:srgbClr val="2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2606040"/>
            <a:ext cx="164592" cy="164592"/>
          </a:xfrm>
          <a:prstGeom prst="ellipse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4871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Service Unavailable (503)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06624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E9E9E"/>
                </a:solidFill>
                <a:latin typeface="Segoe UI"/>
              </a:defRPr>
            </a:pPr>
            <a:r>
              <a:t>Blocked transactions, revenue loss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35808"/>
            <a:ext cx="5120640" cy="475488"/>
          </a:xfrm>
          <a:prstGeom prst="roundRect">
            <a:avLst/>
          </a:prstGeom>
          <a:solidFill>
            <a:srgbClr val="2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3172968"/>
            <a:ext cx="164592" cy="16459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0540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Timeout (504)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7355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E9E9E"/>
                </a:solidFill>
                <a:latin typeface="Segoe UI"/>
              </a:defRPr>
            </a:pPr>
            <a:r>
              <a:t>Customer abandonment, SLA breach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02736"/>
            <a:ext cx="5120640" cy="475488"/>
          </a:xfrm>
          <a:prstGeom prst="roundRect">
            <a:avLst/>
          </a:prstGeom>
          <a:solidFill>
            <a:srgbClr val="2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739896"/>
            <a:ext cx="164592" cy="164592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62102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Connection Refused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84048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E9E9E"/>
                </a:solidFill>
                <a:latin typeface="Segoe UI"/>
              </a:defRPr>
            </a:pPr>
            <a:r>
              <a:t>Cascading failures, queue buildup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69664"/>
            <a:ext cx="5120640" cy="475488"/>
          </a:xfrm>
          <a:prstGeom prst="roundRect">
            <a:avLst/>
          </a:prstGeom>
          <a:solidFill>
            <a:srgbClr val="2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4306824"/>
            <a:ext cx="164592" cy="164592"/>
          </a:xfrm>
          <a:prstGeom prst="ellipse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1879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Internal Error (500)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0740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E9E9E"/>
                </a:solidFill>
                <a:latin typeface="Segoe UI"/>
              </a:defRPr>
            </a:pPr>
            <a:r>
              <a:t>Data inconsistency, retry storms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736592"/>
            <a:ext cx="5120640" cy="475488"/>
          </a:xfrm>
          <a:prstGeom prst="roundRect">
            <a:avLst/>
          </a:prstGeom>
          <a:solidFill>
            <a:srgbClr val="2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60" y="4873752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754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Slow Response (2-10x)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97433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E9E9E"/>
                </a:solidFill>
                <a:latin typeface="Segoe UI"/>
              </a:defRPr>
            </a:pPr>
            <a:r>
              <a:t>UX degradation, conversion drop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303520"/>
            <a:ext cx="5120640" cy="475488"/>
          </a:xfrm>
          <a:prstGeom prst="roundRect">
            <a:avLst/>
          </a:prstGeom>
          <a:solidFill>
            <a:srgbClr val="2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2960" y="5440680"/>
            <a:ext cx="164592" cy="164592"/>
          </a:xfrm>
          <a:prstGeom prst="ellipse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3218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Circuit Breaker Trip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541264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E9E9E"/>
                </a:solidFill>
                <a:latin typeface="Segoe UI"/>
              </a:defRPr>
            </a:pPr>
            <a:r>
              <a:t>Graceful degradation test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737360"/>
            <a:ext cx="5303520" cy="45720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1737360"/>
            <a:ext cx="5303520" cy="54864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73BE28"/>
                </a:solidFill>
                <a:latin typeface="Segoe UI"/>
              </a:defRPr>
            </a:pPr>
            <a:r>
              <a:t>FIX-IT AGENT — AI Remediation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2468880"/>
            <a:ext cx="4937760" cy="777240"/>
          </a:xfrm>
          <a:prstGeom prst="roundRect">
            <a:avLst/>
          </a:prstGeom>
          <a:solidFill>
            <a:srgbClr val="2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2468880"/>
            <a:ext cx="54864" cy="77724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E83E3E"/>
                </a:solidFill>
                <a:latin typeface="Segoe UI"/>
              </a:defRPr>
            </a:pPr>
            <a:r>
              <a:t>1  DETECT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2788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Davis AI problem detection fires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3383280"/>
            <a:ext cx="4937760" cy="777240"/>
          </a:xfrm>
          <a:prstGeom prst="roundRect">
            <a:avLst/>
          </a:prstGeom>
          <a:solidFill>
            <a:srgbClr val="2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3383280"/>
            <a:ext cx="54864" cy="7772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6B35"/>
                </a:solidFill>
                <a:latin typeface="Segoe UI"/>
              </a:defRPr>
            </a:pPr>
            <a:r>
              <a:t>2  CORRELATE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3703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Maps problem to business impact</a:t>
            </a:r>
            <a:br/>
            <a:r>
              <a:t>(which journey, which step, how much £)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4297680"/>
            <a:ext cx="4937760" cy="777240"/>
          </a:xfrm>
          <a:prstGeom prst="roundRect">
            <a:avLst/>
          </a:prstGeom>
          <a:solidFill>
            <a:srgbClr val="2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4297680"/>
            <a:ext cx="54864" cy="777240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73BE28"/>
                </a:solidFill>
                <a:latin typeface="Segoe UI"/>
              </a:defRPr>
            </a:pPr>
            <a:r>
              <a:t>3  REMEDIATE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4617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Auto-triggers workflow: restart service,</a:t>
            </a:r>
            <a:br/>
            <a:r>
              <a:t>roll back feature flag, or escalate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5212080"/>
            <a:ext cx="4937760" cy="777240"/>
          </a:xfrm>
          <a:prstGeom prst="roundRect">
            <a:avLst/>
          </a:prstGeom>
          <a:solidFill>
            <a:srgbClr val="2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00800" y="5212080"/>
            <a:ext cx="54864" cy="777240"/>
          </a:xfrm>
          <a:prstGeom prst="rect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0" y="5257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1496FF"/>
                </a:solidFill>
                <a:latin typeface="Segoe UI"/>
              </a:defRPr>
            </a:pPr>
            <a:r>
              <a:t>4  AUDIT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5532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Librarian logs everything:</a:t>
            </a:r>
            <a:br/>
            <a:r>
              <a:t>what happened, why, business 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Solutions: Pre-Built Industry Integrations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3657600" cy="530352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657600" cy="54864"/>
          </a:xfrm>
          <a:prstGeom prst="rect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463040"/>
            <a:ext cx="411480" cy="411480"/>
          </a:xfrm>
          <a:prstGeom prst="ellipse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Healthcare &amp; Life Sciences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1496FF"/>
                </a:solidFill>
                <a:latin typeface="Segoe UI Light"/>
              </a:defRPr>
            </a:pPr>
            <a:r>
              <a:t>"Prove AI is improving patient outcomes — not just generating cost"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9E9E9E"/>
                </a:solidFill>
                <a:latin typeface="Segoe UI"/>
              </a:defRPr>
            </a:pPr>
            <a:r>
              <a:t>PRE-BUILT INTEGRATIONS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1005840" cy="228600"/>
          </a:xfrm>
          <a:prstGeom prst="roundRect">
            <a:avLst/>
          </a:prstGeom>
          <a:solidFill>
            <a:srgbClr val="22253D"/>
          </a:solidFill>
          <a:ln w="12700">
            <a:solidFill>
              <a:srgbClr val="14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E0E0E0"/>
                </a:solidFill>
                <a:latin typeface="Segoe UI"/>
              </a:defRPr>
            </a:pPr>
            <a:r>
              <a:t>Epic EHR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199" y="2697480"/>
            <a:ext cx="1005840" cy="228600"/>
          </a:xfrm>
          <a:prstGeom prst="roundRect">
            <a:avLst/>
          </a:prstGeom>
          <a:solidFill>
            <a:srgbClr val="22253D"/>
          </a:solidFill>
          <a:ln w="12700">
            <a:solidFill>
              <a:srgbClr val="14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E0E0E0"/>
                </a:solidFill>
                <a:latin typeface="Segoe UI"/>
              </a:defRPr>
            </a:pPr>
            <a:r>
              <a:t>Cerner (Oracle Health)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2697480"/>
            <a:ext cx="1005840" cy="228600"/>
          </a:xfrm>
          <a:prstGeom prst="roundRect">
            <a:avLst/>
          </a:prstGeom>
          <a:solidFill>
            <a:srgbClr val="22253D"/>
          </a:solidFill>
          <a:ln w="12700">
            <a:solidFill>
              <a:srgbClr val="14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E0E0E0"/>
                </a:solidFill>
                <a:latin typeface="Segoe UI"/>
              </a:defRPr>
            </a:pPr>
            <a:r>
              <a:t>Meditech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54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9E9E9E"/>
                </a:solidFill>
                <a:latin typeface="Segoe UI"/>
              </a:defRPr>
            </a:pPr>
            <a:r>
              <a:t>KEY DEMO 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29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E0E0E0"/>
                </a:solidFill>
                <a:latin typeface="Segoe UI"/>
              </a:defRPr>
            </a:pPr>
            <a:r>
              <a:t>  AI recommendation acceptance vs override rate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3493008"/>
            <a:ext cx="73152" cy="73152"/>
          </a:xfrm>
          <a:prstGeom prst="ellipse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216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E0E0E0"/>
                </a:solidFill>
                <a:latin typeface="Segoe UI"/>
              </a:defRPr>
            </a:pPr>
            <a:r>
              <a:t>  MyChart AI triage confidence &amp; accuracy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3785616"/>
            <a:ext cx="73152" cy="73152"/>
          </a:xfrm>
          <a:prstGeom prst="ellipse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142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E0E0E0"/>
                </a:solidFill>
                <a:latin typeface="Segoe UI"/>
              </a:defRPr>
            </a:pPr>
            <a:r>
              <a:t>  Predictive sepsis early warning effectiveness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" y="4078224"/>
            <a:ext cx="73152" cy="73152"/>
          </a:xfrm>
          <a:prstGeom prst="ellipse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3068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E0E0E0"/>
                </a:solidFill>
                <a:latin typeface="Segoe UI"/>
              </a:defRPr>
            </a:pPr>
            <a:r>
              <a:t>  FHIR API response times for AI consumers</a:t>
            </a:r>
          </a:p>
        </p:txBody>
      </p:sp>
      <p:sp>
        <p:nvSpPr>
          <p:cNvPr id="23" name="Oval 22"/>
          <p:cNvSpPr/>
          <p:nvPr/>
        </p:nvSpPr>
        <p:spPr>
          <a:xfrm>
            <a:off x="594360" y="4370832"/>
            <a:ext cx="73152" cy="73152"/>
          </a:xfrm>
          <a:prstGeom prst="ellipse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754880"/>
            <a:ext cx="3383280" cy="640080"/>
          </a:xfrm>
          <a:prstGeom prst="roundRect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82312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ROI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983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£180K prevented in adverse outcomes/month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1234440"/>
            <a:ext cx="3657600" cy="530352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06240" y="1234440"/>
            <a:ext cx="3657600" cy="54864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89120" y="1463040"/>
            <a:ext cx="411480" cy="41148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$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Retail Banking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1965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3BE28"/>
                </a:solidFill>
                <a:latin typeface="Segoe UI Light"/>
              </a:defRPr>
            </a:pPr>
            <a:r>
              <a:t>"Prove AI is driving revenue and reducing risk — not just hype"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2468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9E9E9E"/>
                </a:solidFill>
                <a:latin typeface="Segoe UI"/>
              </a:defRPr>
            </a:pPr>
            <a:r>
              <a:t>PRE-BUILT INTEGRATIONS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2697480"/>
            <a:ext cx="1005840" cy="228600"/>
          </a:xfrm>
          <a:prstGeom prst="roundRect">
            <a:avLst/>
          </a:prstGeom>
          <a:solidFill>
            <a:srgbClr val="22253D"/>
          </a:solidFill>
          <a:ln w="12700">
            <a:solidFill>
              <a:srgbClr val="73B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E0E0E0"/>
                </a:solidFill>
                <a:latin typeface="Segoe UI"/>
              </a:defRPr>
            </a:pPr>
            <a:r>
              <a:t>FIS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40679" y="2697480"/>
            <a:ext cx="1005840" cy="228600"/>
          </a:xfrm>
          <a:prstGeom prst="roundRect">
            <a:avLst/>
          </a:prstGeom>
          <a:solidFill>
            <a:srgbClr val="22253D"/>
          </a:solidFill>
          <a:ln w="12700">
            <a:solidFill>
              <a:srgbClr val="73B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E0E0E0"/>
                </a:solidFill>
                <a:latin typeface="Segoe UI"/>
              </a:defRPr>
            </a:pPr>
            <a:r>
              <a:t>Temenos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2697480"/>
            <a:ext cx="1005840" cy="228600"/>
          </a:xfrm>
          <a:prstGeom prst="roundRect">
            <a:avLst/>
          </a:prstGeom>
          <a:solidFill>
            <a:srgbClr val="22253D"/>
          </a:solidFill>
          <a:ln w="12700">
            <a:solidFill>
              <a:srgbClr val="73B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E0E0E0"/>
                </a:solidFill>
                <a:latin typeface="Segoe UI"/>
              </a:defRPr>
            </a:pPr>
            <a:r>
              <a:t>Finastra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3154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9E9E9E"/>
                </a:solidFill>
                <a:latin typeface="Segoe UI"/>
              </a:defRPr>
            </a:pPr>
            <a:r>
              <a:t>KEY DEMO KPIs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3429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E0E0E0"/>
                </a:solidFill>
                <a:latin typeface="Segoe UI"/>
              </a:defRPr>
            </a:pPr>
            <a:r>
              <a:t>  AI fraud false positive rate &amp; blocked revenue</a:t>
            </a:r>
          </a:p>
        </p:txBody>
      </p:sp>
      <p:sp>
        <p:nvSpPr>
          <p:cNvPr id="38" name="Oval 37"/>
          <p:cNvSpPr/>
          <p:nvPr/>
        </p:nvSpPr>
        <p:spPr>
          <a:xfrm>
            <a:off x="4434840" y="3493008"/>
            <a:ext cx="73152" cy="73152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0" y="37216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E0E0E0"/>
                </a:solidFill>
                <a:latin typeface="Segoe UI"/>
              </a:defRPr>
            </a:pPr>
            <a:r>
              <a:t>  Credit decision accuracy vs 90-day defaults</a:t>
            </a:r>
          </a:p>
        </p:txBody>
      </p:sp>
      <p:sp>
        <p:nvSpPr>
          <p:cNvPr id="40" name="Oval 39"/>
          <p:cNvSpPr/>
          <p:nvPr/>
        </p:nvSpPr>
        <p:spPr>
          <a:xfrm>
            <a:off x="4434840" y="3785616"/>
            <a:ext cx="73152" cy="73152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40142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E0E0E0"/>
                </a:solidFill>
                <a:latin typeface="Segoe UI"/>
              </a:defRPr>
            </a:pPr>
            <a:r>
              <a:t>  Payment routing approval rate lift %</a:t>
            </a:r>
          </a:p>
        </p:txBody>
      </p:sp>
      <p:sp>
        <p:nvSpPr>
          <p:cNvPr id="42" name="Oval 41"/>
          <p:cNvSpPr/>
          <p:nvPr/>
        </p:nvSpPr>
        <p:spPr>
          <a:xfrm>
            <a:off x="4434840" y="4078224"/>
            <a:ext cx="73152" cy="73152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0" y="43068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E0E0E0"/>
                </a:solidFill>
                <a:latin typeface="Segoe UI"/>
              </a:defRPr>
            </a:pPr>
            <a:r>
              <a:t>  Chatbot containment rate &amp; escalation patterns</a:t>
            </a:r>
          </a:p>
        </p:txBody>
      </p:sp>
      <p:sp>
        <p:nvSpPr>
          <p:cNvPr id="44" name="Oval 43"/>
          <p:cNvSpPr/>
          <p:nvPr/>
        </p:nvSpPr>
        <p:spPr>
          <a:xfrm>
            <a:off x="4434840" y="4370832"/>
            <a:ext cx="73152" cy="73152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343400" y="4754880"/>
            <a:ext cx="3383280" cy="640080"/>
          </a:xfrm>
          <a:prstGeom prst="round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0560" y="4782312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ROI IMPACT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4983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£8.4M fraud prevented / £2.3M recovered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1234440"/>
            <a:ext cx="3657600" cy="530352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46720" y="1234440"/>
            <a:ext cx="3657600" cy="54864"/>
          </a:xfrm>
          <a:prstGeom prst="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229600" y="1463040"/>
            <a:ext cx="411480" cy="411480"/>
          </a:xfrm>
          <a:prstGeom prst="ellipse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Pharmaceuticals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1965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F2DA8"/>
                </a:solidFill>
                <a:latin typeface="Segoe UI Light"/>
              </a:defRPr>
            </a:pPr>
            <a:r>
              <a:t>"Prove AI is accelerating discovery and reducing compliance risk"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2468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9E9E9E"/>
                </a:solidFill>
                <a:latin typeface="Segoe UI"/>
              </a:defRPr>
            </a:pPr>
            <a:r>
              <a:t>PRE-BUILT INTEGRATIONS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9600" y="2697480"/>
            <a:ext cx="1005840" cy="228600"/>
          </a:xfrm>
          <a:prstGeom prst="roundRect">
            <a:avLst/>
          </a:prstGeom>
          <a:solidFill>
            <a:srgbClr val="22253D"/>
          </a:solidFill>
          <a:ln w="12700">
            <a:solidFill>
              <a:srgbClr val="6F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E0E0E0"/>
                </a:solidFill>
                <a:latin typeface="Segoe UI"/>
              </a:defRPr>
            </a:pPr>
            <a:r>
              <a:t>IQVIA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81159" y="2697480"/>
            <a:ext cx="1005840" cy="228600"/>
          </a:xfrm>
          <a:prstGeom prst="roundRect">
            <a:avLst/>
          </a:prstGeom>
          <a:solidFill>
            <a:srgbClr val="22253D"/>
          </a:solidFill>
          <a:ln w="12700">
            <a:solidFill>
              <a:srgbClr val="6F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E0E0E0"/>
                </a:solidFill>
                <a:latin typeface="Segoe UI"/>
              </a:defRPr>
            </a:pPr>
            <a:r>
              <a:t>SAP S/4HANA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332720" y="2697480"/>
            <a:ext cx="1005840" cy="228600"/>
          </a:xfrm>
          <a:prstGeom prst="roundRect">
            <a:avLst/>
          </a:prstGeom>
          <a:solidFill>
            <a:srgbClr val="22253D"/>
          </a:solidFill>
          <a:ln w="12700">
            <a:solidFill>
              <a:srgbClr val="6F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E0E0E0"/>
                </a:solidFill>
                <a:latin typeface="Segoe UI"/>
              </a:defRPr>
            </a:pPr>
            <a:r>
              <a:t>Regulatory Systems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3154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9E9E9E"/>
                </a:solidFill>
                <a:latin typeface="Segoe UI"/>
              </a:defRPr>
            </a:pPr>
            <a:r>
              <a:t>KEY DEMO KPIs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3429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E0E0E0"/>
                </a:solidFill>
                <a:latin typeface="Segoe UI"/>
              </a:defRPr>
            </a:pPr>
            <a:r>
              <a:t>  AI patient matching precision/recall</a:t>
            </a:r>
          </a:p>
        </p:txBody>
      </p:sp>
      <p:sp>
        <p:nvSpPr>
          <p:cNvPr id="59" name="Oval 58"/>
          <p:cNvSpPr/>
          <p:nvPr/>
        </p:nvSpPr>
        <p:spPr>
          <a:xfrm>
            <a:off x="8275320" y="3493008"/>
            <a:ext cx="73152" cy="73152"/>
          </a:xfrm>
          <a:prstGeom prst="ellipse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0" y="37216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E0E0E0"/>
                </a:solidFill>
                <a:latin typeface="Segoe UI"/>
              </a:defRPr>
            </a:pPr>
            <a:r>
              <a:t>  Demand forecast accuracy (MAPE) by product</a:t>
            </a:r>
          </a:p>
        </p:txBody>
      </p:sp>
      <p:sp>
        <p:nvSpPr>
          <p:cNvPr id="61" name="Oval 60"/>
          <p:cNvSpPr/>
          <p:nvPr/>
        </p:nvSpPr>
        <p:spPr>
          <a:xfrm>
            <a:off x="8275320" y="3785616"/>
            <a:ext cx="73152" cy="73152"/>
          </a:xfrm>
          <a:prstGeom prst="ellipse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0" y="40142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E0E0E0"/>
                </a:solidFill>
                <a:latin typeface="Segoe UI"/>
              </a:defRPr>
            </a:pPr>
            <a:r>
              <a:t>  Batch release automation time savings</a:t>
            </a:r>
          </a:p>
        </p:txBody>
      </p:sp>
      <p:sp>
        <p:nvSpPr>
          <p:cNvPr id="63" name="Oval 62"/>
          <p:cNvSpPr/>
          <p:nvPr/>
        </p:nvSpPr>
        <p:spPr>
          <a:xfrm>
            <a:off x="8275320" y="4078224"/>
            <a:ext cx="73152" cy="73152"/>
          </a:xfrm>
          <a:prstGeom prst="ellipse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0" y="43068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E0E0E0"/>
                </a:solidFill>
                <a:latin typeface="Segoe UI"/>
              </a:defRPr>
            </a:pPr>
            <a:r>
              <a:t>  Cold chain optimisation cost savings</a:t>
            </a:r>
          </a:p>
        </p:txBody>
      </p:sp>
      <p:sp>
        <p:nvSpPr>
          <p:cNvPr id="65" name="Oval 64"/>
          <p:cNvSpPr/>
          <p:nvPr/>
        </p:nvSpPr>
        <p:spPr>
          <a:xfrm>
            <a:off x="8275320" y="4370832"/>
            <a:ext cx="73152" cy="73152"/>
          </a:xfrm>
          <a:prstGeom prst="ellipse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183880" y="4754880"/>
            <a:ext cx="3383280" cy="640080"/>
          </a:xfrm>
          <a:prstGeom prst="round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21040" y="4782312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ROI IMPACT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0" y="4983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£28M+ extended patent exclusivity value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What Works on Dynatrace Managed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E0E0E0"/>
                </a:solidFill>
                <a:latin typeface="Segoe UI Light"/>
              </a:defRPr>
            </a:pPr>
            <a:r>
              <a:t>The Forge works on Managed TODAY for core observability — and becomes the migration conversation for SaaS.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5303520" cy="45720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5303520" cy="54864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73BE28"/>
                </a:solidFill>
                <a:latin typeface="Segoe UI"/>
              </a:defRPr>
            </a:pPr>
            <a:r>
              <a:t>WORKS ON MANAGED TODAY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423160"/>
            <a:ext cx="182880" cy="18288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Real microservice generation &amp; detection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807208"/>
            <a:ext cx="182880" cy="18288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051560" y="276148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Full Smartscape topology from HTTP traffic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191256"/>
            <a:ext cx="182880" cy="18288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051560" y="31455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Distributed tracing across all services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575304"/>
            <a:ext cx="182880" cy="18288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051560" y="352958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Davis AI problem detection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959352"/>
            <a:ext cx="182880" cy="18288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051560" y="39136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Chaos engineering (feature flag injection)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343400"/>
            <a:ext cx="182880" cy="18288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1051560" y="4297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OneAgent service splitting (DT_TAGS)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4727448"/>
            <a:ext cx="182880" cy="18288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1051560" y="468172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Custom events via Events API v2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111496"/>
            <a:ext cx="182880" cy="18288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1051560" y="506577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Executive PDF export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5495544"/>
            <a:ext cx="182880" cy="18288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1051560" y="544982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256+ journey templates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5879592"/>
            <a:ext cx="182880" cy="18288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1051560" y="58338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Multiple concurrent companies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1737360"/>
            <a:ext cx="5303520" cy="45720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1737360"/>
            <a:ext cx="5303520" cy="54864"/>
          </a:xfrm>
          <a:prstGeom prst="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18745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6F2DA8"/>
                </a:solidFill>
                <a:latin typeface="Segoe UI"/>
              </a:defRPr>
            </a:pPr>
            <a:r>
              <a:t>ENHANCED ON SAAS / GRAIL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2377440"/>
            <a:ext cx="4937760" cy="594360"/>
          </a:xfrm>
          <a:prstGeom prst="roundRect">
            <a:avLst/>
          </a:prstGeom>
          <a:solidFill>
            <a:srgbClr val="2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2377440"/>
            <a:ext cx="54864" cy="594360"/>
          </a:xfrm>
          <a:prstGeom prst="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583680" y="2468880"/>
            <a:ext cx="182880" cy="182880"/>
          </a:xfrm>
          <a:prstGeom prst="ellipse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24048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Business event querying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267919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9E9E9E"/>
                </a:solidFill>
                <a:latin typeface="Segoe UI"/>
              </a:defRPr>
            </a:pPr>
            <a:r>
              <a:t>fetch bizevents via DQL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063240"/>
            <a:ext cx="4937760" cy="594360"/>
          </a:xfrm>
          <a:prstGeom prst="roundRect">
            <a:avLst/>
          </a:prstGeom>
          <a:solidFill>
            <a:srgbClr val="2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3063240"/>
            <a:ext cx="54864" cy="594360"/>
          </a:xfrm>
          <a:prstGeom prst="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83680" y="3154680"/>
            <a:ext cx="182880" cy="182880"/>
          </a:xfrm>
          <a:prstGeom prst="ellipse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03720" y="30906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AI dashboard generation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336499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9E9E9E"/>
                </a:solidFill>
                <a:latin typeface="Segoe UI"/>
              </a:defRPr>
            </a:pPr>
            <a:r>
              <a:t>Auto-built DQL tile dashboards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3749039"/>
            <a:ext cx="4937760" cy="594360"/>
          </a:xfrm>
          <a:prstGeom prst="roundRect">
            <a:avLst/>
          </a:prstGeom>
          <a:solidFill>
            <a:srgbClr val="2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3749039"/>
            <a:ext cx="54864" cy="594360"/>
          </a:xfrm>
          <a:prstGeom prst="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583680" y="3840479"/>
            <a:ext cx="182880" cy="182880"/>
          </a:xfrm>
          <a:prstGeom prst="ellipse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03720" y="377647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Forge UI (AppEngine)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4050791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9E9E9E"/>
                </a:solidFill>
                <a:latin typeface="Segoe UI"/>
              </a:defRPr>
            </a:pPr>
            <a:r>
              <a:t>Native in-tenant control plane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4434840"/>
            <a:ext cx="4937760" cy="594360"/>
          </a:xfrm>
          <a:prstGeom prst="roundRect">
            <a:avLst/>
          </a:prstGeom>
          <a:solidFill>
            <a:srgbClr val="2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4434840"/>
            <a:ext cx="54864" cy="594360"/>
          </a:xfrm>
          <a:prstGeom prst="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583680" y="4526280"/>
            <a:ext cx="182880" cy="182880"/>
          </a:xfrm>
          <a:prstGeom prst="ellipse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3720" y="44622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DQL notebooks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473659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9E9E9E"/>
                </a:solidFill>
                <a:latin typeface="Segoe UI"/>
              </a:defRPr>
            </a:pPr>
            <a:r>
              <a:t>Ad-hoc business analysis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5120640"/>
            <a:ext cx="4937760" cy="594360"/>
          </a:xfrm>
          <a:prstGeom prst="roundRect">
            <a:avLst/>
          </a:prstGeom>
          <a:solidFill>
            <a:srgbClr val="2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0800" y="5120640"/>
            <a:ext cx="54864" cy="594360"/>
          </a:xfrm>
          <a:prstGeom prst="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583680" y="5212080"/>
            <a:ext cx="182880" cy="182880"/>
          </a:xfrm>
          <a:prstGeom prst="ellipse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03720" y="51480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Davis AI + Grail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542239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9E9E9E"/>
                </a:solidFill>
                <a:latin typeface="Segoe UI"/>
              </a:defRPr>
            </a:pPr>
            <a:r>
              <a:t>Enhanced root cause analysis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5852160"/>
            <a:ext cx="5303520" cy="457200"/>
          </a:xfrm>
          <a:prstGeom prst="round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5852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The Forge is a SaaS migration accelerator — not a limitation.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Four AI Agents Working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2743200" cy="50292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743200" cy="54864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1645920"/>
            <a:ext cx="822960" cy="822960"/>
          </a:xfrm>
          <a:prstGeom prst="ellipse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</a:defRPr>
            </a:pPr>
            <a:r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NEMESIS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63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83E3E"/>
                </a:solidFill>
                <a:latin typeface="Segoe UI"/>
              </a:defRPr>
            </a:pPr>
            <a:r>
              <a:t>Chaos Engineering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474720"/>
            <a:ext cx="1280160" cy="18288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0E0E0"/>
                </a:solidFill>
                <a:latin typeface="Segoe UI"/>
              </a:defRPr>
            </a:pPr>
            <a:r>
              <a:t>Autonomous, AI-driven chaos injection via feature flags. Per-service targeting with safety locks. LLM-assisted recipe selection.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280160"/>
            <a:ext cx="2743200" cy="50292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280160"/>
            <a:ext cx="2743200" cy="54864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60520" y="1645920"/>
            <a:ext cx="822960" cy="82296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697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FIX-IT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063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73BE28"/>
                </a:solidFill>
                <a:latin typeface="Segoe UI"/>
              </a:defRPr>
            </a:pPr>
            <a:r>
              <a:t>AI Remediation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3474720"/>
            <a:ext cx="1280160" cy="18288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37033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0E0E0"/>
                </a:solidFill>
                <a:latin typeface="Segoe UI"/>
              </a:defRPr>
            </a:pPr>
            <a:r>
              <a:t>Detects problems via Davis AI. Correlates with business impact (revenue, CX). Triggers automated remediation workflows.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280160"/>
            <a:ext cx="2743200" cy="50292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280160"/>
            <a:ext cx="2743200" cy="54864"/>
          </a:xfrm>
          <a:prstGeom prst="rect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86600" y="1645920"/>
            <a:ext cx="822960" cy="822960"/>
          </a:xfrm>
          <a:prstGeom prst="ellipse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97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LIBRARIAN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063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1496FF"/>
                </a:solidFill>
                <a:latin typeface="Segoe UI"/>
              </a:defRPr>
            </a:pPr>
            <a:r>
              <a:t>Memory &amp; Audit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3474720"/>
            <a:ext cx="1280160" cy="18288"/>
          </a:xfrm>
          <a:prstGeom prst="rect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7033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0E0E0"/>
                </a:solidFill>
                <a:latin typeface="Segoe UI"/>
              </a:defRPr>
            </a:pPr>
            <a:r>
              <a:t>Central memory store for all chaos events and AI decisions. Enables "why was this triggered?" playback. Full audit trail.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1280160"/>
            <a:ext cx="2743200" cy="50292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0" y="1280160"/>
            <a:ext cx="2743200" cy="54864"/>
          </a:xfrm>
          <a:prstGeom prst="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12680" y="1645920"/>
            <a:ext cx="822960" cy="822960"/>
          </a:xfrm>
          <a:prstGeom prst="ellipse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697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063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F2DA8"/>
                </a:solidFill>
                <a:latin typeface="Segoe UI"/>
              </a:defRPr>
            </a:pPr>
            <a:r>
              <a:t>BI Generation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3474720"/>
            <a:ext cx="1280160" cy="18288"/>
          </a:xfrm>
          <a:prstGeom prst="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37033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0E0E0"/>
                </a:solidFill>
                <a:latin typeface="Segoe UI"/>
              </a:defRPr>
            </a:pPr>
            <a:r>
              <a:t>Generates and deploys Dynatrace dashboards automatically. DQL-powered tiles correlated to business journeys. Ollama LLM integration.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2971800" y="3474720"/>
            <a:ext cx="457200" cy="228600"/>
          </a:xfrm>
          <a:prstGeom prst="right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5897880" y="3474720"/>
            <a:ext cx="457200" cy="228600"/>
          </a:xfrm>
          <a:prstGeom prst="right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8823960" y="3474720"/>
            <a:ext cx="457200" cy="228600"/>
          </a:xfrm>
          <a:prstGeom prst="right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Leave-Behind: Executive PDF 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E0E0E0"/>
                </a:solidFill>
                <a:latin typeface="Segoe UI Light"/>
              </a:defRPr>
            </a:pPr>
            <a:r>
              <a:t>The Forge generates polished, C-suite-ready executive summaries — your meeting leave-behind that closes deals.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45720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41631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1371600" cy="36576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424242"/>
                </a:solidFill>
                <a:latin typeface="Segoe UI"/>
              </a:defRPr>
            </a:pPr>
            <a:r>
              <a:t>First National Bank — Loan Application Journey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424242"/>
                </a:solidFill>
                <a:latin typeface="Segoe UI"/>
              </a:defRPr>
            </a:pPr>
            <a:r>
              <a:t>Key Findings:</a:t>
            </a:r>
            <a:br/>
            <a:r>
              <a:t>• AI credit decisioning reduced false decline rates by 12%</a:t>
            </a:r>
            <a:br/>
            <a:r>
              <a:t>• Recovered £2.3M in previously blocked applications</a:t>
            </a:r>
            <a:br/>
            <a:r>
              <a:t>• Fraud detection maintained 99.7% accuracy</a:t>
            </a:r>
            <a:br/>
            <a:r>
              <a:t>• P99 latency at 4.2s (target: 5s) — within SLA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424242"/>
                </a:solidFill>
                <a:latin typeface="Segoe UI"/>
              </a:defRPr>
            </a:pPr>
            <a:r>
              <a:t>ROI Projection:</a:t>
            </a:r>
            <a:br/>
            <a:r>
              <a:t>• £8.4M fraud prevention quarterly</a:t>
            </a:r>
            <a:br/>
            <a:r>
              <a:t>• 23% faster loan processing time</a:t>
            </a:r>
            <a:br/>
            <a:r>
              <a:t>• NPS improvement: 42 → 58 projected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3931920" cy="13716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E9E9E"/>
                </a:solidFill>
                <a:latin typeface="Segoe UI"/>
              </a:defRPr>
            </a:pPr>
            <a:r>
              <a:t>[Journey Flow Visualisation]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1737360"/>
            <a:ext cx="6217920" cy="457200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0" y="1737360"/>
            <a:ext cx="62179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77840" y="2057400"/>
            <a:ext cx="320040" cy="32004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Company-Specific Branding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331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Auto-populates customer name, industry context,</a:t>
            </a:r>
            <a:br/>
            <a:r>
              <a:t>and domain-specific terminology</a:t>
            </a:r>
          </a:p>
        </p:txBody>
      </p:sp>
      <p:sp>
        <p:nvSpPr>
          <p:cNvPr id="20" name="Oval 19"/>
          <p:cNvSpPr/>
          <p:nvPr/>
        </p:nvSpPr>
        <p:spPr>
          <a:xfrm>
            <a:off x="5577840" y="2880360"/>
            <a:ext cx="320040" cy="3200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834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Industry-Contextual ROI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1546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Randomised ROI narratives matched to vertical:</a:t>
            </a:r>
            <a:br/>
            <a:r>
              <a:t>banking fraud rates, healthcare outcomes, retail conversion</a:t>
            </a:r>
          </a:p>
        </p:txBody>
      </p:sp>
      <p:sp>
        <p:nvSpPr>
          <p:cNvPr id="23" name="Oval 22"/>
          <p:cNvSpPr/>
          <p:nvPr/>
        </p:nvSpPr>
        <p:spPr>
          <a:xfrm>
            <a:off x="5577840" y="3703320"/>
            <a:ext cx="320040" cy="3200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657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Journey Step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977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Maps each customer journey step with</a:t>
            </a:r>
            <a:br/>
            <a:r>
              <a:t>observability signals and business metrics</a:t>
            </a:r>
          </a:p>
        </p:txBody>
      </p:sp>
      <p:sp>
        <p:nvSpPr>
          <p:cNvPr id="26" name="Oval 25"/>
          <p:cNvSpPr/>
          <p:nvPr/>
        </p:nvSpPr>
        <p:spPr>
          <a:xfrm>
            <a:off x="5577840" y="4526280"/>
            <a:ext cx="320040" cy="320040"/>
          </a:xfrm>
          <a:prstGeom prst="ellipse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4480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Colour-Coded Visualisations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800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Dynatrace-branded palette with</a:t>
            </a:r>
            <a:br/>
            <a:r>
              <a:t>category-specific colours for each metric type</a:t>
            </a:r>
          </a:p>
        </p:txBody>
      </p:sp>
      <p:sp>
        <p:nvSpPr>
          <p:cNvPr id="29" name="Oval 28"/>
          <p:cNvSpPr/>
          <p:nvPr/>
        </p:nvSpPr>
        <p:spPr>
          <a:xfrm>
            <a:off x="5577840" y="5349240"/>
            <a:ext cx="320040" cy="320040"/>
          </a:xfrm>
          <a:prstGeom prst="ellipse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5303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Instant Generation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623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POST /api/pdf/executive-summary</a:t>
            </a:r>
            <a:br/>
            <a:r>
              <a:t>Generated in seconds — email-ready PDF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Four Demo Scenarios You Can Run Tomorrow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34440"/>
            <a:ext cx="2788920" cy="530352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788920" cy="54864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432" y="1508760"/>
            <a:ext cx="640080" cy="64008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Zero to Executive Brief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834640"/>
            <a:ext cx="1371600" cy="274320"/>
          </a:xfrm>
          <a:prstGeom prst="round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90 SECONDS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374136"/>
            <a:ext cx="201168" cy="201168"/>
          </a:xfrm>
          <a:prstGeom prst="ellipse">
            <a:avLst/>
          </a:prstGeom>
          <a:solidFill>
            <a:srgbClr val="22253D"/>
          </a:solidFill>
          <a:ln w="12700">
            <a:solidFill>
              <a:srgbClr val="73B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73BE28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Enter company name + journey type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77055"/>
            <a:ext cx="201168" cy="201168"/>
          </a:xfrm>
          <a:prstGeom prst="ellipse">
            <a:avLst/>
          </a:prstGeom>
          <a:solidFill>
            <a:srgbClr val="22253D"/>
          </a:solidFill>
          <a:ln w="12700">
            <a:solidFill>
              <a:srgbClr val="73B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73BE28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7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System auto-generates 6-step journey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379976"/>
            <a:ext cx="201168" cy="201168"/>
          </a:xfrm>
          <a:prstGeom prst="ellipse">
            <a:avLst/>
          </a:prstGeom>
          <a:solidFill>
            <a:srgbClr val="22253D"/>
          </a:solidFill>
          <a:ln w="12700">
            <a:solidFill>
              <a:srgbClr val="73B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73BE28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BizEvent schema + dashboard created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882896"/>
            <a:ext cx="201168" cy="201168"/>
          </a:xfrm>
          <a:prstGeom prst="ellipse">
            <a:avLst/>
          </a:prstGeom>
          <a:solidFill>
            <a:srgbClr val="22253D"/>
          </a:solidFill>
          <a:ln w="12700">
            <a:solidFill>
              <a:srgbClr val="73B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73BE28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PDF executive summary generated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5385816"/>
            <a:ext cx="201168" cy="201168"/>
          </a:xfrm>
          <a:prstGeom prst="ellipse">
            <a:avLst/>
          </a:prstGeom>
          <a:solidFill>
            <a:srgbClr val="22253D"/>
          </a:solidFill>
          <a:ln w="12700">
            <a:solidFill>
              <a:srgbClr val="73B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73BE28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492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Email-ready for C-suite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1234440"/>
            <a:ext cx="2788920" cy="530352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0" y="1234440"/>
            <a:ext cx="2788920" cy="54864"/>
          </a:xfrm>
          <a:prstGeom prst="rect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96512" y="1508760"/>
            <a:ext cx="640080" cy="640080"/>
          </a:xfrm>
          <a:prstGeom prst="ellipse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33172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Industry Vertical Deep Dive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86200" y="2834640"/>
            <a:ext cx="1371600" cy="274320"/>
          </a:xfrm>
          <a:prstGeom prst="roundRect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5 MINUTES</a:t>
            </a:r>
          </a:p>
        </p:txBody>
      </p:sp>
      <p:sp>
        <p:nvSpPr>
          <p:cNvPr id="26" name="Oval 25"/>
          <p:cNvSpPr/>
          <p:nvPr/>
        </p:nvSpPr>
        <p:spPr>
          <a:xfrm>
            <a:off x="3383280" y="3374136"/>
            <a:ext cx="201168" cy="201168"/>
          </a:xfrm>
          <a:prstGeom prst="ellipse">
            <a:avLst/>
          </a:prstGeom>
          <a:solidFill>
            <a:srgbClr val="22253D"/>
          </a:solidFill>
          <a:ln w="12700">
            <a:solidFill>
              <a:srgbClr val="14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1496FF"/>
                </a:solidFill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33756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Click Solutions tab</a:t>
            </a:r>
          </a:p>
        </p:txBody>
      </p:sp>
      <p:sp>
        <p:nvSpPr>
          <p:cNvPr id="28" name="Oval 27"/>
          <p:cNvSpPr/>
          <p:nvPr/>
        </p:nvSpPr>
        <p:spPr>
          <a:xfrm>
            <a:off x="3383280" y="3877055"/>
            <a:ext cx="201168" cy="201168"/>
          </a:xfrm>
          <a:prstGeom prst="ellipse">
            <a:avLst/>
          </a:prstGeom>
          <a:solidFill>
            <a:srgbClr val="22253D"/>
          </a:solidFill>
          <a:ln w="12700">
            <a:solidFill>
              <a:srgbClr val="14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1496FF"/>
                </a:solidFill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84047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Show Healthcare: Epic/Cerner integrations</a:t>
            </a:r>
          </a:p>
        </p:txBody>
      </p:sp>
      <p:sp>
        <p:nvSpPr>
          <p:cNvPr id="30" name="Oval 29"/>
          <p:cNvSpPr/>
          <p:nvPr/>
        </p:nvSpPr>
        <p:spPr>
          <a:xfrm>
            <a:off x="3383280" y="4379976"/>
            <a:ext cx="201168" cy="201168"/>
          </a:xfrm>
          <a:prstGeom prst="ellipse">
            <a:avLst/>
          </a:prstGeom>
          <a:solidFill>
            <a:srgbClr val="22253D"/>
          </a:solidFill>
          <a:ln w="12700">
            <a:solidFill>
              <a:srgbClr val="14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1496FF"/>
                </a:solidFill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3434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Highlight AI clinical decision support KPIs</a:t>
            </a:r>
          </a:p>
        </p:txBody>
      </p:sp>
      <p:sp>
        <p:nvSpPr>
          <p:cNvPr id="32" name="Oval 31"/>
          <p:cNvSpPr/>
          <p:nvPr/>
        </p:nvSpPr>
        <p:spPr>
          <a:xfrm>
            <a:off x="3383280" y="4882896"/>
            <a:ext cx="201168" cy="201168"/>
          </a:xfrm>
          <a:prstGeom prst="ellipse">
            <a:avLst/>
          </a:prstGeom>
          <a:solidFill>
            <a:srgbClr val="22253D"/>
          </a:solidFill>
          <a:ln w="12700">
            <a:solidFill>
              <a:srgbClr val="14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1496FF"/>
                </a:solidFill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8463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Show dollar ROI projections</a:t>
            </a:r>
          </a:p>
        </p:txBody>
      </p:sp>
      <p:sp>
        <p:nvSpPr>
          <p:cNvPr id="34" name="Oval 33"/>
          <p:cNvSpPr/>
          <p:nvPr/>
        </p:nvSpPr>
        <p:spPr>
          <a:xfrm>
            <a:off x="3383280" y="5385816"/>
            <a:ext cx="201168" cy="201168"/>
          </a:xfrm>
          <a:prstGeom prst="ellipse">
            <a:avLst/>
          </a:prstGeom>
          <a:solidFill>
            <a:srgbClr val="22253D"/>
          </a:solidFill>
          <a:ln w="12700">
            <a:solidFill>
              <a:srgbClr val="14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1496FF"/>
                </a:solidFill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3492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Export industry-specific PDF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1234440"/>
            <a:ext cx="2788920" cy="530352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1234440"/>
            <a:ext cx="2788920" cy="54864"/>
          </a:xfrm>
          <a:prstGeom prst="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022592" y="1508760"/>
            <a:ext cx="640080" cy="640080"/>
          </a:xfrm>
          <a:prstGeom prst="ellipse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233172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Live Service Topology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12280" y="2834640"/>
            <a:ext cx="1371600" cy="274320"/>
          </a:xfrm>
          <a:prstGeom prst="round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3 MINUTES</a:t>
            </a:r>
          </a:p>
        </p:txBody>
      </p:sp>
      <p:sp>
        <p:nvSpPr>
          <p:cNvPr id="41" name="Oval 40"/>
          <p:cNvSpPr/>
          <p:nvPr/>
        </p:nvSpPr>
        <p:spPr>
          <a:xfrm>
            <a:off x="6309360" y="3374136"/>
            <a:ext cx="201168" cy="201168"/>
          </a:xfrm>
          <a:prstGeom prst="ellipse">
            <a:avLst/>
          </a:prstGeom>
          <a:solidFill>
            <a:srgbClr val="22253D"/>
          </a:solidFill>
          <a:ln w="12700">
            <a:solidFill>
              <a:srgbClr val="6F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F2DA8"/>
                </a:solidFill>
              </a:defRPr>
            </a:pPr>
            <a: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333756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Launch journey simulation</a:t>
            </a:r>
          </a:p>
        </p:txBody>
      </p:sp>
      <p:sp>
        <p:nvSpPr>
          <p:cNvPr id="43" name="Oval 42"/>
          <p:cNvSpPr/>
          <p:nvPr/>
        </p:nvSpPr>
        <p:spPr>
          <a:xfrm>
            <a:off x="6309360" y="3877055"/>
            <a:ext cx="201168" cy="201168"/>
          </a:xfrm>
          <a:prstGeom prst="ellipse">
            <a:avLst/>
          </a:prstGeom>
          <a:solidFill>
            <a:srgbClr val="22253D"/>
          </a:solidFill>
          <a:ln w="12700">
            <a:solidFill>
              <a:srgbClr val="6F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F2DA8"/>
                </a:solidFill>
              </a:defRPr>
            </a:pPr>
            <a: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384047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Switch to Dynatrace Services view</a:t>
            </a:r>
          </a:p>
        </p:txBody>
      </p:sp>
      <p:sp>
        <p:nvSpPr>
          <p:cNvPr id="45" name="Oval 44"/>
          <p:cNvSpPr/>
          <p:nvPr/>
        </p:nvSpPr>
        <p:spPr>
          <a:xfrm>
            <a:off x="6309360" y="4379976"/>
            <a:ext cx="201168" cy="201168"/>
          </a:xfrm>
          <a:prstGeom prst="ellipse">
            <a:avLst/>
          </a:prstGeom>
          <a:solidFill>
            <a:srgbClr val="22253D"/>
          </a:solidFill>
          <a:ln w="12700">
            <a:solidFill>
              <a:srgbClr val="6F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F2DA8"/>
                </a:solidFill>
              </a:defRPr>
            </a:pPr>
            <a: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3434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Show Smartscape service flow</a:t>
            </a:r>
          </a:p>
        </p:txBody>
      </p:sp>
      <p:sp>
        <p:nvSpPr>
          <p:cNvPr id="47" name="Oval 46"/>
          <p:cNvSpPr/>
          <p:nvPr/>
        </p:nvSpPr>
        <p:spPr>
          <a:xfrm>
            <a:off x="6309360" y="4882896"/>
            <a:ext cx="201168" cy="201168"/>
          </a:xfrm>
          <a:prstGeom prst="ellipse">
            <a:avLst/>
          </a:prstGeom>
          <a:solidFill>
            <a:srgbClr val="22253D"/>
          </a:solidFill>
          <a:ln w="12700">
            <a:solidFill>
              <a:srgbClr val="6F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F2DA8"/>
                </a:solidFill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48463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Click into distributed trace</a:t>
            </a:r>
          </a:p>
        </p:txBody>
      </p:sp>
      <p:sp>
        <p:nvSpPr>
          <p:cNvPr id="49" name="Oval 48"/>
          <p:cNvSpPr/>
          <p:nvPr/>
        </p:nvSpPr>
        <p:spPr>
          <a:xfrm>
            <a:off x="6309360" y="5385816"/>
            <a:ext cx="201168" cy="201168"/>
          </a:xfrm>
          <a:prstGeom prst="ellipse">
            <a:avLst/>
          </a:prstGeom>
          <a:solidFill>
            <a:srgbClr val="22253D"/>
          </a:solidFill>
          <a:ln w="12700">
            <a:solidFill>
              <a:srgbClr val="6F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F2DA8"/>
                </a:solidFill>
              </a:defRPr>
            </a:pPr>
            <a: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53492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Show request-level detail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52560" y="1234440"/>
            <a:ext cx="2788920" cy="530352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52560" y="1234440"/>
            <a:ext cx="27889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48672" y="150876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233172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Chaos + Business Impact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738360" y="2834640"/>
            <a:ext cx="1371600" cy="2743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5 MINUTES</a:t>
            </a:r>
          </a:p>
        </p:txBody>
      </p:sp>
      <p:sp>
        <p:nvSpPr>
          <p:cNvPr id="56" name="Oval 55"/>
          <p:cNvSpPr/>
          <p:nvPr/>
        </p:nvSpPr>
        <p:spPr>
          <a:xfrm>
            <a:off x="9235440" y="3374136"/>
            <a:ext cx="201168" cy="201168"/>
          </a:xfrm>
          <a:prstGeom prst="ellipse">
            <a:avLst/>
          </a:prstGeom>
          <a:solidFill>
            <a:srgbClr val="22253D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6B35"/>
                </a:solidFill>
              </a:defRPr>
            </a:pPr>
            <a: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60" y="333756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Activate Chaos Control tab</a:t>
            </a:r>
          </a:p>
        </p:txBody>
      </p:sp>
      <p:sp>
        <p:nvSpPr>
          <p:cNvPr id="58" name="Oval 57"/>
          <p:cNvSpPr/>
          <p:nvPr/>
        </p:nvSpPr>
        <p:spPr>
          <a:xfrm>
            <a:off x="9235440" y="3877055"/>
            <a:ext cx="201168" cy="201168"/>
          </a:xfrm>
          <a:prstGeom prst="ellipse">
            <a:avLst/>
          </a:prstGeom>
          <a:solidFill>
            <a:srgbClr val="22253D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6B35"/>
                </a:solidFill>
              </a:defRPr>
            </a:pPr>
            <a: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384047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Inject latency into one service</a:t>
            </a:r>
          </a:p>
        </p:txBody>
      </p:sp>
      <p:sp>
        <p:nvSpPr>
          <p:cNvPr id="60" name="Oval 59"/>
          <p:cNvSpPr/>
          <p:nvPr/>
        </p:nvSpPr>
        <p:spPr>
          <a:xfrm>
            <a:off x="9235440" y="4379976"/>
            <a:ext cx="201168" cy="201168"/>
          </a:xfrm>
          <a:prstGeom prst="ellipse">
            <a:avLst/>
          </a:prstGeom>
          <a:solidFill>
            <a:srgbClr val="22253D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6B35"/>
                </a:solidFill>
              </a:defRPr>
            </a:pPr>
            <a: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09760" y="43434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Show Davis problem detection</a:t>
            </a:r>
          </a:p>
        </p:txBody>
      </p:sp>
      <p:sp>
        <p:nvSpPr>
          <p:cNvPr id="62" name="Oval 61"/>
          <p:cNvSpPr/>
          <p:nvPr/>
        </p:nvSpPr>
        <p:spPr>
          <a:xfrm>
            <a:off x="9235440" y="4882896"/>
            <a:ext cx="201168" cy="201168"/>
          </a:xfrm>
          <a:prstGeom prst="ellipse">
            <a:avLst/>
          </a:prstGeom>
          <a:solidFill>
            <a:srgbClr val="22253D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6B35"/>
                </a:solidFill>
              </a:defRPr>
            </a:pPr>
            <a: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48463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Show revenue impact on dashboard</a:t>
            </a:r>
          </a:p>
        </p:txBody>
      </p:sp>
      <p:sp>
        <p:nvSpPr>
          <p:cNvPr id="64" name="Oval 63"/>
          <p:cNvSpPr/>
          <p:nvPr/>
        </p:nvSpPr>
        <p:spPr>
          <a:xfrm>
            <a:off x="9235440" y="5385816"/>
            <a:ext cx="201168" cy="201168"/>
          </a:xfrm>
          <a:prstGeom prst="ellipse">
            <a:avLst/>
          </a:prstGeom>
          <a:solidFill>
            <a:srgbClr val="22253D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6B35"/>
                </a:solidFill>
              </a:defRPr>
            </a:pPr>
            <a: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0" y="53492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Fix-It agent remediates automatically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Common Questions — Your Answers Ready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96012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960120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325880"/>
            <a:ext cx="320040" cy="32004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618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"Does this work on Managed?"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2763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Absolutely. Core engine works identically — real services, Smartscape, traces, Davis, chaos engineering. BizEvent querying and AI dashboards are SaaS features. Use the Forge as the SaaS migration conversation.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1247120" cy="96012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54864" cy="960120"/>
          </a:xfrm>
          <a:prstGeom prst="rect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2377440"/>
            <a:ext cx="320040" cy="320040"/>
          </a:xfrm>
          <a:prstGeom prst="ellipse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3134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"How long does setup take?"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7919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15 minutes. Linux VM + Node.js + Dynatrace tenant + API token. Run setup script, answer 6 prompts, you're live. Partners have set this up during a lunch break before an afternoon customer meeting.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91839"/>
            <a:ext cx="11247120" cy="96012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291839"/>
            <a:ext cx="54864" cy="960120"/>
          </a:xfrm>
          <a:prstGeom prst="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3428999"/>
            <a:ext cx="320040" cy="320040"/>
          </a:xfrm>
          <a:prstGeom prst="ellipse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364991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"Can I use this for a POC?"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30751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That's exactly what it's designed for. Pick the customer's industry, generate their journey, let it run for a day. You'll have real Dynatrace data that demonstrates production-like observability. The PDF becomes your POC summary.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43400"/>
            <a:ext cx="11247120" cy="96012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343400"/>
            <a:ext cx="54864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4480560"/>
            <a:ext cx="320040" cy="3200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4165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"What about data privacy?"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78231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All data is 100% synthetic. Company names, customer profiles, transaction values — everything is generated. No real customer data involved. Safe for any regulated environment.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394959"/>
            <a:ext cx="11247120" cy="96012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394959"/>
            <a:ext cx="54864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5532119"/>
            <a:ext cx="320040" cy="3200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468111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"What if their industry isn't covered?"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833871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It almost certainly is — 55 verticals from retail banking to space &amp; satellite. But for niche cases, describe the process in plain English and the AI generates services, schema, and dashboard automatically.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90-Second Power Demo — Booth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E0E0E0"/>
                </a:solidFill>
                <a:latin typeface="Segoe UI Light"/>
              </a:defRPr>
            </a:pPr>
            <a:r>
              <a:t>For hallway conversations, booth demos, and elevator pitches. Memorise this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731520" cy="320040"/>
          </a:xfrm>
          <a:prstGeom prst="round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276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73BE28"/>
                </a:solidFill>
                <a:latin typeface="Segoe UI"/>
              </a:defRPr>
            </a:pPr>
            <a:r>
              <a:t>SAY: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62763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"Give me an industry — any industry."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6276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9E9E9E"/>
                </a:solidFill>
                <a:latin typeface="Segoe UI"/>
              </a:defRPr>
            </a:pPr>
            <a:r>
              <a:t>DO: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62763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Wait for answer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1247120" cy="9144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468880"/>
            <a:ext cx="731520" cy="320040"/>
          </a:xfrm>
          <a:prstGeom prst="roundRect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0:10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4505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1496FF"/>
                </a:solidFill>
                <a:latin typeface="Segoe UI"/>
              </a:defRPr>
            </a:pPr>
            <a:r>
              <a:t>SAY: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45059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"Watch this — 6 real microservices just spun up."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4505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9E9E9E"/>
                </a:solidFill>
                <a:latin typeface="Segoe UI"/>
              </a:defRPr>
            </a:pPr>
            <a:r>
              <a:t>DO: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45059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Select industry → Launch journey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54680"/>
            <a:ext cx="11247120" cy="9144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291840"/>
            <a:ext cx="731520" cy="3200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0:25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735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00B4D8"/>
                </a:solidFill>
                <a:latin typeface="Segoe UI"/>
              </a:defRPr>
            </a:pPr>
            <a:r>
              <a:t>SAY: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27355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"OneAgent detected them all. Full topology, zero config."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2735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9E9E9E"/>
                </a:solidFill>
                <a:latin typeface="Segoe UI"/>
              </a:defRPr>
            </a:pPr>
            <a:r>
              <a:t>DO: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27355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Show Dynatrace Services + Smartscape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77640"/>
            <a:ext cx="11247120" cy="9144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4114800"/>
            <a:ext cx="731520" cy="320040"/>
          </a:xfrm>
          <a:prstGeom prst="round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0:40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965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6F2DA8"/>
                </a:solidFill>
                <a:latin typeface="Segoe UI"/>
              </a:defRPr>
            </a:pPr>
            <a:r>
              <a:t>SAY: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09651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"Every transaction carries revenue context — £45K loan value,</a:t>
            </a:r>
            <a:br/>
            <a:r>
              <a:t>128K lifetime value, 78% conversion rate."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0965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9E9E9E"/>
                </a:solidFill>
                <a:latin typeface="Segoe UI"/>
              </a:defRPr>
            </a:pPr>
            <a:r>
              <a:t>DO: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09651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Show BizEvent data / dashboard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00600"/>
            <a:ext cx="11247120" cy="9144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4937760"/>
            <a:ext cx="731520" cy="320040"/>
          </a:xfrm>
          <a:prstGeom prst="round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9194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E83E3E"/>
                </a:solidFill>
                <a:latin typeface="Segoe UI"/>
              </a:defRPr>
            </a:pPr>
            <a:r>
              <a:t>SAY: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91947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"Now I'll break the fraud detection service..."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9194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9E9E9E"/>
                </a:solidFill>
                <a:latin typeface="Segoe UI"/>
              </a:defRPr>
            </a:pPr>
            <a:r>
              <a:t>DO: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91947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Inject chaos → Show Davis problem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623560"/>
            <a:ext cx="11247120" cy="9144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" y="5760720"/>
            <a:ext cx="73152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1:20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7424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6B35"/>
                </a:solidFill>
                <a:latin typeface="Segoe UI"/>
              </a:defRPr>
            </a:pPr>
            <a:r>
              <a:t>SAY: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574243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"£240K in claims stuck. That's the number your CFO cares about.</a:t>
            </a:r>
            <a:br/>
            <a:r>
              <a:t>This works on Managed today. 55 industries. Ready to go."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57424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9E9E9E"/>
                </a:solidFill>
                <a:latin typeface="Segoe UI"/>
              </a:defRPr>
            </a:pPr>
            <a:r>
              <a:t>DO: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574243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Show business impact → Close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029200"/>
            <a:ext cx="1828800" cy="1828800"/>
          </a:xfrm>
          <a:prstGeom prst="ellipse">
            <a:avLst/>
          </a:prstGeom>
          <a:solidFill>
            <a:srgbClr val="73BE28">
              <a:lumMod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0" y="5486400"/>
            <a:ext cx="1828800" cy="1828800"/>
          </a:xfrm>
          <a:prstGeom prst="ellipse">
            <a:avLst/>
          </a:prstGeom>
          <a:solidFill>
            <a:srgbClr val="73BE28">
              <a:lumMod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0" y="5029200"/>
            <a:ext cx="1828800" cy="1828800"/>
          </a:xfrm>
          <a:prstGeom prst="ellipse">
            <a:avLst/>
          </a:prstGeom>
          <a:solidFill>
            <a:srgbClr val="73BE28">
              <a:lumMod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0" y="5486400"/>
            <a:ext cx="1828800" cy="1828800"/>
          </a:xfrm>
          <a:prstGeom prst="ellipse">
            <a:avLst/>
          </a:prstGeom>
          <a:solidFill>
            <a:srgbClr val="73BE28">
              <a:lumMod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5029200"/>
            <a:ext cx="1828800" cy="1828800"/>
          </a:xfrm>
          <a:prstGeom prst="ellipse">
            <a:avLst/>
          </a:prstGeom>
          <a:solidFill>
            <a:srgbClr val="73BE28">
              <a:lumMod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73BE28"/>
                </a:solidFill>
                <a:latin typeface="Segoe UI"/>
              </a:defRPr>
            </a:pPr>
            <a:r>
              <a:t>BUSINESS OBSERVABILITY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680"/>
              </a:lnSpc>
              <a:spcAft>
                <a:spcPts val="0"/>
              </a:spcAft>
              <a:defRPr sz="6400" b="1">
                <a:solidFill>
                  <a:srgbClr val="FFFFFF"/>
                </a:solidFill>
                <a:latin typeface="Segoe UI Black"/>
              </a:defRPr>
            </a:pPr>
            <a:r>
              <a:t>FORGE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31720"/>
            <a:ext cx="1828800" cy="54864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2743200" cy="164592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2743200" cy="54864"/>
          </a:xfrm>
          <a:prstGeom prst="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3154680"/>
            <a:ext cx="320040" cy="320040"/>
          </a:xfrm>
          <a:prstGeom prst="ellipse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1272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Pick any industry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57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55 verticals, 256+ templates — your customer's industry is covered.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2926080"/>
            <a:ext cx="2743200" cy="164592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2926080"/>
            <a:ext cx="2743200" cy="54864"/>
          </a:xfrm>
          <a:prstGeom prst="rect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20440" y="3154680"/>
            <a:ext cx="320040" cy="320040"/>
          </a:xfrm>
          <a:prstGeom prst="ellipse">
            <a:avLst/>
          </a:prstGeom>
          <a:solidFill>
            <a:srgbClr val="1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1272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Demo in minutes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657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Real services, real traces, real Smartscape — not PowerPoint.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926080"/>
            <a:ext cx="2743200" cy="164592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926080"/>
            <a:ext cx="2743200" cy="54864"/>
          </a:xfrm>
          <a:prstGeom prst="rect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0" y="3154680"/>
            <a:ext cx="320040" cy="320040"/>
          </a:xfrm>
          <a:prstGeom prst="ellipse">
            <a:avLst/>
          </a:prstGeom>
          <a:solidFill>
            <a:srgbClr val="6F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1272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Leave behind a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57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Executive summary with ROI language that speaks to the C-suite.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2926080"/>
            <a:ext cx="2743200" cy="1645920"/>
          </a:xfrm>
          <a:prstGeom prst="roundRect">
            <a:avLst/>
          </a:prstGeom>
          <a:solidFill>
            <a:srgbClr val="1A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2926080"/>
            <a:ext cx="27432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281160" y="3154680"/>
            <a:ext cx="320040" cy="3200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31272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Managed-ready today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657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E0E0E0"/>
                </a:solidFill>
                <a:latin typeface="Segoe UI"/>
              </a:defRPr>
            </a:pPr>
            <a:r>
              <a:t>Core observability works now. SaaS features become the upgrade story.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0" y="5029200"/>
            <a:ext cx="7589520" cy="1097280"/>
          </a:xfrm>
          <a:prstGeom prst="roundRect">
            <a:avLst/>
          </a:prstGeom>
          <a:solidFill>
            <a:srgbClr val="73B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512064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GET STARTED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557784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Segoe UI Light"/>
              </a:defRPr>
            </a:pPr>
            <a:r>
              <a:t>Setup takes 15 minutes  |  Linux VM + Node.js + Dynatrace tenant  |  Let's talk after this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